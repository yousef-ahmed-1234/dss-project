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62" r:id="rId9"/>
    <p:sldId id="268" r:id="rId10"/>
    <p:sldId id="263" r:id="rId11"/>
    <p:sldId id="266" r:id="rId12"/>
    <p:sldId id="267" r:id="rId13"/>
    <p:sldId id="269" r:id="rId14"/>
    <p:sldId id="264" r:id="rId15"/>
    <p:sldId id="265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6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7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019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208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733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23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887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74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63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23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3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56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926D8F-32B2-E4CC-0E9D-A147CB0A2F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35" b="571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169022-8A06-C0D7-4448-81BCEB14A8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3474720"/>
          </a:xfrm>
        </p:spPr>
        <p:txBody>
          <a:bodyPr anchor="b">
            <a:normAutofit/>
          </a:bodyPr>
          <a:lstStyle/>
          <a:p>
            <a:r>
              <a:rPr lang="en-US" sz="2200" dirty="0"/>
              <a:t>Distributed Systems Security</a:t>
            </a:r>
            <a:br>
              <a:rPr lang="en-US" sz="2200" dirty="0"/>
            </a:br>
            <a:r>
              <a:rPr lang="en-US" sz="2200" dirty="0"/>
              <a:t>Ordering, Broadcast, Synchronization &amp; Fault Tolerance</a:t>
            </a:r>
            <a:br>
              <a:rPr lang="en-US" sz="2200" dirty="0"/>
            </a:br>
            <a:r>
              <a:rPr lang="en-US" sz="2200" dirty="0"/>
              <a:t>Case Study: Apache Kafka</a:t>
            </a:r>
            <a:br>
              <a:rPr lang="en-US" sz="6000" dirty="0"/>
            </a:br>
            <a:endParaRPr lang="en-US" sz="5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C4610-816E-FC6A-5D49-2C373C393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82646" y="4495013"/>
            <a:ext cx="4116410" cy="1386840"/>
          </a:xfrm>
        </p:spPr>
        <p:txBody>
          <a:bodyPr anchor="t">
            <a:normAutofit/>
          </a:bodyPr>
          <a:lstStyle/>
          <a:p>
            <a:pPr algn="l"/>
            <a:r>
              <a:rPr lang="en-US" sz="2200" dirty="0"/>
              <a:t>Yousef ahmed </a:t>
            </a:r>
            <a:r>
              <a:rPr lang="en-US" sz="2200" dirty="0" err="1"/>
              <a:t>salama</a:t>
            </a:r>
            <a:r>
              <a:rPr lang="en-US" sz="2200" dirty="0"/>
              <a:t> </a:t>
            </a:r>
          </a:p>
          <a:p>
            <a:pPr algn="l"/>
            <a:r>
              <a:rPr lang="en-US" sz="2200" dirty="0"/>
              <a:t>231004873</a:t>
            </a:r>
          </a:p>
        </p:txBody>
      </p:sp>
    </p:spTree>
    <p:extLst>
      <p:ext uri="{BB962C8B-B14F-4D97-AF65-F5344CB8AC3E}">
        <p14:creationId xmlns:p14="http://schemas.microsoft.com/office/powerpoint/2010/main" val="26468171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F6A08-B1FF-6B30-73C1-6AC7B7264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Systems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A10EC-5CAD-D688-1A90-FA4F856F4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distributed system is a collection of independent nodes that communicate over a network </a:t>
            </a:r>
          </a:p>
          <a:p>
            <a:r>
              <a:rPr lang="en-US" dirty="0"/>
              <a:t>Nodes coordinate to appear as a </a:t>
            </a:r>
            <a:r>
              <a:rPr lang="en-US" b="1" dirty="0"/>
              <a:t>single unified system</a:t>
            </a:r>
            <a:r>
              <a:rPr lang="en-US" dirty="0"/>
              <a:t> </a:t>
            </a:r>
          </a:p>
          <a:p>
            <a:r>
              <a:rPr lang="en-US" b="1" dirty="0"/>
              <a:t>Key Characteristics:</a:t>
            </a:r>
            <a:endParaRPr lang="en-US" dirty="0"/>
          </a:p>
          <a:p>
            <a:r>
              <a:rPr lang="en-US" dirty="0"/>
              <a:t>Concurrency (multiple nodes operate simultaneously) </a:t>
            </a:r>
          </a:p>
          <a:p>
            <a:r>
              <a:rPr lang="en-US" dirty="0"/>
              <a:t>No global clock </a:t>
            </a:r>
          </a:p>
          <a:p>
            <a:r>
              <a:rPr lang="en-US" dirty="0"/>
              <a:t>Independent failures possible </a:t>
            </a:r>
          </a:p>
          <a:p>
            <a:r>
              <a:rPr lang="en-US" b="1" dirty="0"/>
              <a:t>Main Challenges:</a:t>
            </a:r>
            <a:endParaRPr lang="en-US" dirty="0"/>
          </a:p>
          <a:p>
            <a:r>
              <a:rPr lang="en-US" dirty="0"/>
              <a:t>Maintaining consistency across nodes </a:t>
            </a:r>
          </a:p>
          <a:p>
            <a:r>
              <a:rPr lang="en-US" dirty="0"/>
              <a:t>Handling failures and delays </a:t>
            </a:r>
          </a:p>
          <a:p>
            <a:r>
              <a:rPr lang="en-US" dirty="0"/>
              <a:t>Ensuring secure communication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298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EBBDF-2B2F-A9FB-9485-CD06CD1A9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Apache Kafka?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A7C86-B300-D493-E3DB-95BC603A5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 </a:t>
            </a:r>
            <a:r>
              <a:rPr lang="en-US" b="1" dirty="0"/>
              <a:t>distributed event streaming platform</a:t>
            </a:r>
            <a:r>
              <a:rPr lang="en-US" dirty="0"/>
              <a:t> </a:t>
            </a:r>
          </a:p>
          <a:p>
            <a:r>
              <a:rPr lang="en-US" dirty="0"/>
              <a:t>Designed for </a:t>
            </a:r>
            <a:r>
              <a:rPr lang="en-US" b="1" dirty="0"/>
              <a:t>high-throughput, real-time data processing</a:t>
            </a:r>
            <a:r>
              <a:rPr lang="en-US" dirty="0"/>
              <a:t> </a:t>
            </a:r>
          </a:p>
          <a:p>
            <a:r>
              <a:rPr lang="en-US" b="1" dirty="0"/>
              <a:t>Core Components:</a:t>
            </a:r>
            <a:endParaRPr lang="en-US" dirty="0"/>
          </a:p>
          <a:p>
            <a:r>
              <a:rPr lang="en-US" b="1" dirty="0"/>
              <a:t>Producer</a:t>
            </a:r>
            <a:r>
              <a:rPr lang="en-US" dirty="0"/>
              <a:t> → sends messages </a:t>
            </a:r>
          </a:p>
          <a:p>
            <a:r>
              <a:rPr lang="en-US" b="1" dirty="0"/>
              <a:t>Broker</a:t>
            </a:r>
            <a:r>
              <a:rPr lang="en-US" dirty="0"/>
              <a:t> → stores and manages data </a:t>
            </a:r>
          </a:p>
          <a:p>
            <a:r>
              <a:rPr lang="en-US" b="1" dirty="0"/>
              <a:t>Consumer</a:t>
            </a:r>
            <a:r>
              <a:rPr lang="en-US" dirty="0"/>
              <a:t> → reads messages </a:t>
            </a:r>
          </a:p>
          <a:p>
            <a:r>
              <a:rPr lang="en-US" b="1" dirty="0"/>
              <a:t>Topic</a:t>
            </a:r>
            <a:r>
              <a:rPr lang="en-US" dirty="0"/>
              <a:t> → category of messages </a:t>
            </a:r>
          </a:p>
          <a:p>
            <a:r>
              <a:rPr lang="en-US" b="1" dirty="0"/>
              <a:t>Partition</a:t>
            </a:r>
            <a:r>
              <a:rPr lang="en-US" dirty="0"/>
              <a:t> → enables parallelism </a:t>
            </a:r>
          </a:p>
          <a:p>
            <a:r>
              <a:rPr lang="en-US" b="1" dirty="0"/>
              <a:t>Key Features:</a:t>
            </a:r>
            <a:endParaRPr lang="en-US" dirty="0"/>
          </a:p>
          <a:p>
            <a:r>
              <a:rPr lang="en-US" dirty="0"/>
              <a:t>Horizontal scalability </a:t>
            </a:r>
          </a:p>
          <a:p>
            <a:r>
              <a:rPr lang="en-US" dirty="0"/>
              <a:t>Fault tolerance via replication </a:t>
            </a:r>
          </a:p>
          <a:p>
            <a:r>
              <a:rPr lang="en-US" dirty="0"/>
              <a:t>Persistent 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6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86C2-C177-F123-A359-5A975D1C7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335D2-C146-7953-17AB-7E8480A20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Ordering defines how messages are delivered and processed across nodes </a:t>
            </a:r>
          </a:p>
          <a:p>
            <a:r>
              <a:rPr lang="en-US" b="1" dirty="0"/>
              <a:t>Types of Ordering:</a:t>
            </a:r>
            <a:endParaRPr lang="en-US" dirty="0"/>
          </a:p>
          <a:p>
            <a:r>
              <a:rPr lang="en-US" dirty="0"/>
              <a:t>FIFO → per sender order </a:t>
            </a:r>
          </a:p>
          <a:p>
            <a:r>
              <a:rPr lang="en-US" dirty="0"/>
              <a:t>Causal → preserves dependencies </a:t>
            </a:r>
          </a:p>
          <a:p>
            <a:r>
              <a:rPr lang="en-US" dirty="0"/>
              <a:t>Total → same order for all nodes </a:t>
            </a:r>
          </a:p>
          <a:p>
            <a:r>
              <a:rPr lang="en-US" b="1" dirty="0"/>
              <a:t>Kafka Implementation:</a:t>
            </a:r>
            <a:endParaRPr lang="en-US" dirty="0"/>
          </a:p>
          <a:p>
            <a:r>
              <a:rPr lang="en-US" dirty="0"/>
              <a:t>Guarantees </a:t>
            </a:r>
            <a:r>
              <a:rPr lang="en-US" b="1" dirty="0"/>
              <a:t>FIFO ordering within each partition</a:t>
            </a:r>
            <a:r>
              <a:rPr lang="en-US" dirty="0"/>
              <a:t> </a:t>
            </a:r>
          </a:p>
          <a:p>
            <a:r>
              <a:rPr lang="en-US" dirty="0"/>
              <a:t>No ordering across multiple partitions </a:t>
            </a:r>
          </a:p>
          <a:p>
            <a:r>
              <a:rPr lang="en-US" dirty="0"/>
              <a:t>👉 </a:t>
            </a:r>
            <a:r>
              <a:rPr lang="en-US" b="1" dirty="0"/>
              <a:t>Design Trade-off:</a:t>
            </a:r>
            <a:endParaRPr lang="en-US" dirty="0"/>
          </a:p>
          <a:p>
            <a:r>
              <a:rPr lang="en-US" dirty="0"/>
              <a:t>✔ High performance &amp; scalability </a:t>
            </a:r>
          </a:p>
          <a:p>
            <a:r>
              <a:rPr lang="en-US" dirty="0"/>
              <a:t>✘ No global consistency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824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558C7-2170-5018-20F5-76EFC1CDA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Broadcast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FA389F-5E98-D80B-6B31-28E6E138A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Broadcast = sending messages from one node to many nodes </a:t>
            </a:r>
          </a:p>
          <a:p>
            <a:r>
              <a:rPr lang="en-US" b="1" dirty="0"/>
              <a:t>Types:</a:t>
            </a:r>
            <a:endParaRPr lang="en-US" dirty="0"/>
          </a:p>
          <a:p>
            <a:r>
              <a:rPr lang="en-US" dirty="0"/>
              <a:t>Best-effort → no guarantees </a:t>
            </a:r>
          </a:p>
          <a:p>
            <a:r>
              <a:rPr lang="en-US" dirty="0"/>
              <a:t>Reliable → ensures delivery </a:t>
            </a:r>
          </a:p>
          <a:p>
            <a:r>
              <a:rPr lang="en-US" dirty="0"/>
              <a:t>Atomic → delivery + total ordering </a:t>
            </a:r>
          </a:p>
          <a:p>
            <a:r>
              <a:rPr lang="en-US" b="1" dirty="0"/>
              <a:t>Kafka Model:</a:t>
            </a:r>
            <a:endParaRPr lang="en-US" dirty="0"/>
          </a:p>
          <a:p>
            <a:r>
              <a:rPr lang="en-US" dirty="0"/>
              <a:t>Uses </a:t>
            </a:r>
            <a:r>
              <a:rPr lang="en-US" b="1" dirty="0"/>
              <a:t>Publish–Subscribe architecture</a:t>
            </a:r>
            <a:r>
              <a:rPr lang="en-US" dirty="0"/>
              <a:t> </a:t>
            </a:r>
          </a:p>
          <a:p>
            <a:r>
              <a:rPr lang="en-US" dirty="0"/>
              <a:t>Producers → publish to topics </a:t>
            </a:r>
          </a:p>
          <a:p>
            <a:r>
              <a:rPr lang="en-US" dirty="0"/>
              <a:t>Consumers → subscribe </a:t>
            </a:r>
          </a:p>
          <a:p>
            <a:r>
              <a:rPr lang="en-US" dirty="0"/>
              <a:t>👉 Similar to </a:t>
            </a:r>
            <a:r>
              <a:rPr lang="en-US" b="1" dirty="0"/>
              <a:t>Reliable Broadcast</a:t>
            </a:r>
            <a:endParaRPr lang="en-US" dirty="0"/>
          </a:p>
          <a:p>
            <a:r>
              <a:rPr lang="en-US" dirty="0"/>
              <a:t>Messages are replicated across brokers </a:t>
            </a:r>
          </a:p>
          <a:p>
            <a:r>
              <a:rPr lang="en-US" dirty="0"/>
              <a:t>Ensures durability and availability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819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1DAE3-E595-02F2-6027-7D0C186A8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Broadcast in Synchronous vs Asynchronous Systems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94D42-61AF-75F9-2370-A7037279C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1400" dirty="0"/>
              <a:t>Broadcast behavior depends on the system’s timing model.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Synchronous Broadcast:</a:t>
            </a:r>
            <a:endParaRPr lang="en-US" sz="1400" dirty="0"/>
          </a:p>
          <a:p>
            <a:r>
              <a:rPr lang="en-US" sz="1400" dirty="0"/>
              <a:t>Message delivery time is bounded </a:t>
            </a:r>
          </a:p>
          <a:p>
            <a:r>
              <a:rPr lang="en-US" sz="1400" dirty="0"/>
              <a:t>All nodes receive messages within a known time </a:t>
            </a:r>
          </a:p>
          <a:p>
            <a:r>
              <a:rPr lang="en-US" sz="1400" dirty="0"/>
              <a:t>Failures are detected quickly </a:t>
            </a:r>
          </a:p>
          <a:p>
            <a:r>
              <a:rPr lang="en-US" sz="1400" dirty="0"/>
              <a:t>✔ Enables strong guarantees (Reliable / Atomic Broadcast)</a:t>
            </a:r>
            <a:br>
              <a:rPr lang="en-US" sz="1400" dirty="0"/>
            </a:br>
            <a:r>
              <a:rPr lang="en-US" sz="1400" dirty="0"/>
              <a:t>✔ Deterministic behavior</a:t>
            </a:r>
          </a:p>
          <a:p>
            <a:r>
              <a:rPr lang="en-US" sz="1400" dirty="0"/>
              <a:t>✘ Not realistic in large-scale systems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b="1" dirty="0"/>
              <a:t>Asynchronous Broadcast:</a:t>
            </a:r>
            <a:endParaRPr lang="en-US" sz="1400" dirty="0"/>
          </a:p>
          <a:p>
            <a:r>
              <a:rPr lang="en-US" sz="1400" dirty="0"/>
              <a:t>No guarantees on message delivery time </a:t>
            </a:r>
          </a:p>
          <a:p>
            <a:r>
              <a:rPr lang="en-US" sz="1400" dirty="0"/>
              <a:t>Messages may be delayed indefinitely </a:t>
            </a:r>
          </a:p>
          <a:p>
            <a:r>
              <a:rPr lang="en-US" sz="1400" dirty="0"/>
              <a:t>Hard to distinguish failure from delay </a:t>
            </a:r>
          </a:p>
          <a:p>
            <a:r>
              <a:rPr lang="en-US" sz="1400" dirty="0"/>
              <a:t>✔ Realistic and scalable</a:t>
            </a:r>
            <a:br>
              <a:rPr lang="en-US" sz="1400" dirty="0"/>
            </a:br>
            <a:r>
              <a:rPr lang="en-US" sz="1400" dirty="0"/>
              <a:t>✔ Flexible system design</a:t>
            </a:r>
          </a:p>
          <a:p>
            <a:r>
              <a:rPr lang="en-US" sz="1400" dirty="0"/>
              <a:t>✘ Harder to guarantee ordering and reliability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46061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BA366-0376-1C82-3CBB-18D88E81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448AF-BF4D-2C4F-31AA-64FB2F2347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Kafka’s Model:</a:t>
            </a:r>
            <a:endParaRPr lang="en-US" dirty="0"/>
          </a:p>
          <a:p>
            <a:r>
              <a:rPr lang="en-US" dirty="0"/>
              <a:t>Apache Kafka operates in a </a:t>
            </a:r>
            <a:r>
              <a:rPr lang="en-US" b="1" dirty="0"/>
              <a:t>partially asynchronous system</a:t>
            </a:r>
            <a:r>
              <a:rPr lang="en-US" dirty="0"/>
              <a:t> </a:t>
            </a:r>
          </a:p>
          <a:p>
            <a:r>
              <a:rPr lang="en-US" dirty="0"/>
              <a:t>Uses replication + acknowledgments </a:t>
            </a:r>
          </a:p>
          <a:p>
            <a:r>
              <a:rPr lang="en-US" dirty="0"/>
              <a:t>Broadcast is </a:t>
            </a:r>
            <a:r>
              <a:rPr lang="en-US" b="1" dirty="0"/>
              <a:t>reliable but NOT time-bounded</a:t>
            </a:r>
            <a:r>
              <a:rPr lang="en-US" dirty="0"/>
              <a:t> </a:t>
            </a:r>
          </a:p>
          <a:p>
            <a:r>
              <a:rPr lang="en-US" dirty="0"/>
              <a:t>👉 Designed for scalability, not strict timing guarantees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890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78CE0-C651-4E7B-9CB7-F2C75369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Byzantine Fault Tolerance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A5CBD-5BAC-EE73-9E67-F4E815EEC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Handles nodes that behave </a:t>
            </a:r>
            <a:r>
              <a:rPr lang="en-US" b="1" dirty="0"/>
              <a:t>maliciously or incorrectly</a:t>
            </a:r>
            <a:r>
              <a:rPr lang="en-US" dirty="0"/>
              <a:t> </a:t>
            </a:r>
          </a:p>
          <a:p>
            <a:r>
              <a:rPr lang="en-US" dirty="0"/>
              <a:t>Based on:</a:t>
            </a:r>
            <a:br>
              <a:rPr lang="en-US" dirty="0"/>
            </a:br>
            <a:r>
              <a:rPr lang="en-US" dirty="0"/>
              <a:t>Byzantine Generals Problem</a:t>
            </a:r>
          </a:p>
          <a:p>
            <a:r>
              <a:rPr lang="en-US" b="1" dirty="0"/>
              <a:t>Problem:</a:t>
            </a:r>
            <a:endParaRPr lang="en-US" dirty="0"/>
          </a:p>
          <a:p>
            <a:r>
              <a:rPr lang="en-US" dirty="0"/>
              <a:t>Nodes may send false or conflicting information </a:t>
            </a:r>
          </a:p>
          <a:p>
            <a:r>
              <a:rPr lang="en-US" b="1" dirty="0"/>
              <a:t>Solution Requirement:</a:t>
            </a:r>
            <a:endParaRPr lang="en-US" dirty="0"/>
          </a:p>
          <a:p>
            <a:r>
              <a:rPr lang="en-US" dirty="0"/>
              <a:t>Need </a:t>
            </a:r>
            <a:r>
              <a:rPr lang="en-US" b="1" dirty="0"/>
              <a:t>3f + 1 nodes</a:t>
            </a:r>
            <a:r>
              <a:rPr lang="en-US" dirty="0"/>
              <a:t> to tolerate </a:t>
            </a:r>
            <a:r>
              <a:rPr lang="en-US" i="1" dirty="0"/>
              <a:t>f</a:t>
            </a:r>
            <a:r>
              <a:rPr lang="en-US" dirty="0"/>
              <a:t> malicious nodes </a:t>
            </a:r>
          </a:p>
          <a:p>
            <a:r>
              <a:rPr lang="en-US" b="1" dirty="0"/>
              <a:t>Kafka:</a:t>
            </a:r>
            <a:endParaRPr lang="en-US" dirty="0"/>
          </a:p>
          <a:p>
            <a:r>
              <a:rPr lang="en-US" dirty="0"/>
              <a:t>✔ Handles crash failures </a:t>
            </a:r>
          </a:p>
          <a:p>
            <a:r>
              <a:rPr lang="en-US" dirty="0"/>
              <a:t>✘ Does NOT handle Byzantine (malicious) faults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761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D40E3-EF0C-E908-3926-376CF2F07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20D45-D044-9C49-EC7B-A8B3D8D2E2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Fault tolerance ensures the system continues operating despite failures.</a:t>
            </a:r>
          </a:p>
          <a:p>
            <a:r>
              <a:rPr lang="en-US" dirty="0"/>
              <a:t>Kafka achieves fault tolerance using replication:</a:t>
            </a:r>
          </a:p>
          <a:p>
            <a:r>
              <a:rPr lang="en-US" dirty="0"/>
              <a:t>Each partition is replicated across multiple brokers </a:t>
            </a:r>
          </a:p>
          <a:p>
            <a:r>
              <a:rPr lang="en-US" dirty="0"/>
              <a:t>One broker acts as the leader, others are followers </a:t>
            </a:r>
          </a:p>
          <a:p>
            <a:r>
              <a:rPr lang="en-US" dirty="0"/>
              <a:t>👉 Replication Factor (RF):</a:t>
            </a:r>
          </a:p>
          <a:p>
            <a:r>
              <a:rPr lang="en-US" dirty="0"/>
              <a:t>RF = number of copies of data </a:t>
            </a:r>
          </a:p>
          <a:p>
            <a:r>
              <a:rPr lang="en-US" dirty="0"/>
              <a:t>👉 Fault Tolerance Rule:</a:t>
            </a:r>
          </a:p>
          <a:p>
            <a:r>
              <a:rPr lang="en-US" dirty="0"/>
              <a:t>System can tolerate </a:t>
            </a:r>
            <a:r>
              <a:rPr lang="en-US" b="1" dirty="0"/>
              <a:t>f failures where: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 = RF - 1 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RF = 3 → system tolerates 2 broker failures </a:t>
            </a:r>
          </a:p>
          <a:p>
            <a:r>
              <a:rPr lang="en-US" dirty="0"/>
              <a:t>👉 How it works:</a:t>
            </a:r>
          </a:p>
          <a:p>
            <a:r>
              <a:rPr lang="en-US" dirty="0"/>
              <a:t>If leader fails → a follower is elected as new leader </a:t>
            </a:r>
          </a:p>
          <a:p>
            <a:r>
              <a:rPr lang="en-US" dirty="0"/>
              <a:t>Data remains available due to replication </a:t>
            </a:r>
          </a:p>
          <a:p>
            <a:r>
              <a:rPr lang="en-US" dirty="0"/>
              <a:t>✔ Handles crash failures</a:t>
            </a:r>
            <a:br>
              <a:rPr lang="en-US" dirty="0"/>
            </a:br>
            <a:r>
              <a:rPr lang="en-US" dirty="0"/>
              <a:t>✘ Does NOT handle Byzantine (malicious) failures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352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A978B-B1E1-21D1-7C31-A8B848628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Protocols in Kafka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75DBE-DD43-0591-97DF-1539D8F41D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Kafka uses a </a:t>
            </a:r>
            <a:r>
              <a:rPr lang="en-US" b="1" dirty="0"/>
              <a:t>leader–follower replication protocol</a:t>
            </a:r>
            <a:r>
              <a:rPr lang="en-US" dirty="0"/>
              <a:t> </a:t>
            </a:r>
          </a:p>
          <a:p>
            <a:r>
              <a:rPr lang="en-US" b="1" dirty="0"/>
              <a:t>Process:</a:t>
            </a:r>
            <a:endParaRPr lang="en-US" dirty="0"/>
          </a:p>
          <a:p>
            <a:r>
              <a:rPr lang="en-US" dirty="0"/>
              <a:t>Producer sends message to leader broker </a:t>
            </a:r>
          </a:p>
          <a:p>
            <a:r>
              <a:rPr lang="en-US" dirty="0"/>
              <a:t>Leader writes to log </a:t>
            </a:r>
          </a:p>
          <a:p>
            <a:r>
              <a:rPr lang="en-US" dirty="0"/>
              <a:t>Followers replicate data </a:t>
            </a:r>
          </a:p>
          <a:p>
            <a:r>
              <a:rPr lang="en-US" dirty="0"/>
              <a:t>Acknowledgment is sent </a:t>
            </a:r>
          </a:p>
          <a:p>
            <a:r>
              <a:rPr lang="en-US" b="1" dirty="0"/>
              <a:t>Related Concepts:</a:t>
            </a:r>
            <a:endParaRPr lang="en-US" dirty="0"/>
          </a:p>
          <a:p>
            <a:r>
              <a:rPr lang="en-US" dirty="0"/>
              <a:t>Raft </a:t>
            </a:r>
          </a:p>
          <a:p>
            <a:r>
              <a:rPr lang="en-US" dirty="0"/>
              <a:t>Paxos </a:t>
            </a:r>
          </a:p>
          <a:p>
            <a:r>
              <a:rPr lang="en-US" dirty="0"/>
              <a:t>👉 Ensures:</a:t>
            </a:r>
          </a:p>
          <a:p>
            <a:r>
              <a:rPr lang="en-US" dirty="0"/>
              <a:t>Data consistency </a:t>
            </a:r>
          </a:p>
          <a:p>
            <a:r>
              <a:rPr lang="en-US" dirty="0"/>
              <a:t>Fault tolerance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446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9FEA6-5499-2CA3-62EF-10753686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Scale &amp; Number of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27D680-A922-79BA-B205-5DB43D118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In distributed systems, the number of servers depends on system scale, workload, and fault tolerance requirements.</a:t>
            </a:r>
          </a:p>
          <a:p>
            <a:r>
              <a:rPr lang="en-US" dirty="0"/>
              <a:t>For Apache Kafka deployments:</a:t>
            </a:r>
          </a:p>
          <a:p>
            <a:r>
              <a:rPr lang="en-US" dirty="0"/>
              <a:t>Small-scale systems:</a:t>
            </a:r>
          </a:p>
          <a:p>
            <a:r>
              <a:rPr lang="en-US" dirty="0"/>
              <a:t>3–5 brokers </a:t>
            </a:r>
          </a:p>
          <a:p>
            <a:r>
              <a:rPr lang="en-US" dirty="0"/>
              <a:t>Used for testing or small applications </a:t>
            </a:r>
          </a:p>
          <a:p>
            <a:r>
              <a:rPr lang="en-US" dirty="0"/>
              <a:t>Medium-scale systems:</a:t>
            </a:r>
          </a:p>
          <a:p>
            <a:r>
              <a:rPr lang="en-US" dirty="0"/>
              <a:t>10–50 brokers </a:t>
            </a:r>
          </a:p>
          <a:p>
            <a:r>
              <a:rPr lang="en-US" dirty="0"/>
              <a:t>Handles moderate traffic and real-time processing </a:t>
            </a:r>
          </a:p>
          <a:p>
            <a:r>
              <a:rPr lang="en-US" dirty="0"/>
              <a:t>Large-scale systems:</a:t>
            </a:r>
          </a:p>
          <a:p>
            <a:r>
              <a:rPr lang="en-US" dirty="0"/>
              <a:t>100+ brokers </a:t>
            </a:r>
          </a:p>
          <a:p>
            <a:r>
              <a:rPr lang="en-US" dirty="0"/>
              <a:t>Used by enterprises handling massive data streams </a:t>
            </a:r>
          </a:p>
          <a:p>
            <a:r>
              <a:rPr lang="en-US" dirty="0"/>
              <a:t>👉 Key Factors Affecting Server Count:</a:t>
            </a:r>
          </a:p>
          <a:p>
            <a:r>
              <a:rPr lang="en-US" dirty="0"/>
              <a:t>Data throughput (messages per second) </a:t>
            </a:r>
          </a:p>
          <a:p>
            <a:r>
              <a:rPr lang="en-US" dirty="0"/>
              <a:t>Number of partitions </a:t>
            </a:r>
          </a:p>
          <a:p>
            <a:r>
              <a:rPr lang="en-US" dirty="0"/>
              <a:t>Replication factor </a:t>
            </a:r>
          </a:p>
          <a:p>
            <a:r>
              <a:rPr lang="en-US" dirty="0"/>
              <a:t>Fault tolerance requirements </a:t>
            </a:r>
          </a:p>
          <a:p>
            <a:r>
              <a:rPr lang="en-US" dirty="0"/>
              <a:t>👉 Design Insight:</a:t>
            </a:r>
            <a:br>
              <a:rPr lang="en-US" dirty="0"/>
            </a:br>
            <a:r>
              <a:rPr lang="en-US" dirty="0"/>
              <a:t>Kafka scales horizontally by adding more brokers, allowing the system to handle increasing load efficiently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3051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E0D7D-D8A7-9AF3-0D33-AE4BD84C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Leader Election in Kafka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AB113-A0E4-FFA0-1E17-88C1E9463F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Kafka uses a leader–follower model for managing partitions.</a:t>
            </a:r>
          </a:p>
          <a:p>
            <a:r>
              <a:rPr lang="en-US" dirty="0"/>
              <a:t>👉 Leader Election Process:</a:t>
            </a:r>
          </a:p>
          <a:p>
            <a:r>
              <a:rPr lang="en-US" dirty="0"/>
              <a:t>Each partition has one leader broker </a:t>
            </a:r>
          </a:p>
          <a:p>
            <a:r>
              <a:rPr lang="en-US" dirty="0"/>
              <a:t>Producers and consumers communicate only with the leader </a:t>
            </a:r>
          </a:p>
          <a:p>
            <a:r>
              <a:rPr lang="en-US" dirty="0"/>
              <a:t>If the leader fails:</a:t>
            </a:r>
          </a:p>
          <a:p>
            <a:r>
              <a:rPr lang="en-US" dirty="0"/>
              <a:t>A new leader is selected from the followers </a:t>
            </a:r>
          </a:p>
          <a:p>
            <a:r>
              <a:rPr lang="en-US" dirty="0"/>
              <a:t>👉 Coordination Mechanisms:</a:t>
            </a:r>
          </a:p>
          <a:p>
            <a:r>
              <a:rPr lang="en-US" dirty="0"/>
              <a:t>Older Kafka:</a:t>
            </a:r>
          </a:p>
          <a:p>
            <a:r>
              <a:rPr lang="en-US" dirty="0"/>
              <a:t>Uses </a:t>
            </a:r>
            <a:r>
              <a:rPr lang="en-US" dirty="0" err="1"/>
              <a:t>ZooKeeper</a:t>
            </a:r>
            <a:r>
              <a:rPr lang="en-US" dirty="0"/>
              <a:t> for leader election and cluster coordination </a:t>
            </a:r>
          </a:p>
          <a:p>
            <a:r>
              <a:rPr lang="en-US" dirty="0"/>
              <a:t>Modern Kafka:</a:t>
            </a:r>
          </a:p>
          <a:p>
            <a:r>
              <a:rPr lang="en-US" dirty="0"/>
              <a:t>Uses </a:t>
            </a:r>
            <a:r>
              <a:rPr lang="en-US" dirty="0" err="1"/>
              <a:t>KRaft</a:t>
            </a:r>
            <a:r>
              <a:rPr lang="en-US" dirty="0"/>
              <a:t> (Kafka Raft Metadata Mode) </a:t>
            </a:r>
          </a:p>
          <a:p>
            <a:r>
              <a:rPr lang="en-US" dirty="0"/>
              <a:t>Removes dependency on </a:t>
            </a:r>
            <a:r>
              <a:rPr lang="en-US" dirty="0" err="1"/>
              <a:t>ZooKeeper</a:t>
            </a:r>
            <a:r>
              <a:rPr lang="en-US" dirty="0"/>
              <a:t> </a:t>
            </a:r>
          </a:p>
          <a:p>
            <a:r>
              <a:rPr lang="en-US" dirty="0"/>
              <a:t>Based on Raft consensus algorithm </a:t>
            </a:r>
          </a:p>
          <a:p>
            <a:r>
              <a:rPr lang="en-US" dirty="0"/>
              <a:t>👉 Key Benefits:</a:t>
            </a:r>
          </a:p>
          <a:p>
            <a:r>
              <a:rPr lang="en-US" dirty="0"/>
              <a:t>Ensures availability </a:t>
            </a:r>
          </a:p>
          <a:p>
            <a:r>
              <a:rPr lang="en-US" dirty="0"/>
              <a:t>Maintains consistency </a:t>
            </a:r>
          </a:p>
          <a:p>
            <a:r>
              <a:rPr lang="en-US" dirty="0"/>
              <a:t>Enables automatic recovery from failures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128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676DA-8FD6-E3AF-7954-5CF39AE7B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Replicated State Machine (RSM) in Kafka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CD0C8-E344-C4A0-8A14-C4493487E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dirty="0"/>
              <a:t>A Replicated State Machine (RSM) ensures all nodes maintain the same state by applying the same sequence of operations.</a:t>
            </a:r>
          </a:p>
          <a:p>
            <a:r>
              <a:rPr lang="en-US" dirty="0"/>
              <a:t>👉 In Kafka:</a:t>
            </a:r>
          </a:p>
          <a:p>
            <a:r>
              <a:rPr lang="en-US" dirty="0"/>
              <a:t>Each partition acts as a log (sequence of events) </a:t>
            </a:r>
          </a:p>
          <a:p>
            <a:r>
              <a:rPr lang="en-US" dirty="0"/>
              <a:t>Logs represent the system state </a:t>
            </a:r>
          </a:p>
          <a:p>
            <a:r>
              <a:rPr lang="en-US" dirty="0"/>
              <a:t>Messages are appended in order </a:t>
            </a:r>
          </a:p>
          <a:p>
            <a:r>
              <a:rPr lang="en-US" dirty="0"/>
              <a:t>👉 Replication Mechanism:</a:t>
            </a:r>
          </a:p>
          <a:p>
            <a:r>
              <a:rPr lang="en-US" dirty="0"/>
              <a:t>Leader writes data to log </a:t>
            </a:r>
          </a:p>
          <a:p>
            <a:r>
              <a:rPr lang="en-US" dirty="0"/>
              <a:t>Followers replicate the same log </a:t>
            </a:r>
          </a:p>
          <a:p>
            <a:r>
              <a:rPr lang="en-US" dirty="0"/>
              <a:t>All replicas stay consistent </a:t>
            </a:r>
          </a:p>
          <a:p>
            <a:r>
              <a:rPr lang="en-US" dirty="0"/>
              <a:t>👉 Why Kafka behaves like an RSM:</a:t>
            </a:r>
          </a:p>
          <a:p>
            <a:r>
              <a:rPr lang="en-US" dirty="0"/>
              <a:t>Same ordered log → same state across nodes </a:t>
            </a:r>
          </a:p>
          <a:p>
            <a:r>
              <a:rPr lang="en-US" dirty="0"/>
              <a:t>Ensures consistency and fault tolerance </a:t>
            </a:r>
          </a:p>
          <a:p>
            <a:r>
              <a:rPr lang="en-US" dirty="0"/>
              <a:t>👉 Benefits:</a:t>
            </a:r>
          </a:p>
          <a:p>
            <a:r>
              <a:rPr lang="en-US" dirty="0"/>
              <a:t>Strong data consistency </a:t>
            </a:r>
          </a:p>
          <a:p>
            <a:r>
              <a:rPr lang="en-US" dirty="0"/>
              <a:t>Fault recovery using replicated logs </a:t>
            </a:r>
          </a:p>
          <a:p>
            <a:r>
              <a:rPr lang="en-US" dirty="0"/>
              <a:t>Deterministic state across brokers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9966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C2994-B2DC-CC44-D05F-402F3DC32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&amp; Disadvantages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9CA4A-0046-3BB6-BD63-E8333F41C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Advantages:</a:t>
            </a:r>
          </a:p>
          <a:p>
            <a:r>
              <a:rPr lang="en-US" dirty="0"/>
              <a:t>High throughput (handles large data streams) </a:t>
            </a:r>
          </a:p>
          <a:p>
            <a:r>
              <a:rPr lang="en-US" dirty="0"/>
              <a:t>Scalable (partition-based design) </a:t>
            </a:r>
          </a:p>
          <a:p>
            <a:r>
              <a:rPr lang="en-US" dirty="0"/>
              <a:t>Fault tolerant (replication mechanism) </a:t>
            </a:r>
          </a:p>
          <a:p>
            <a:r>
              <a:rPr lang="en-US" dirty="0"/>
              <a:t>Durable storage </a:t>
            </a:r>
          </a:p>
          <a:p>
            <a:r>
              <a:rPr lang="en-US" b="1" dirty="0"/>
              <a:t>Disadvantages:</a:t>
            </a:r>
          </a:p>
          <a:p>
            <a:r>
              <a:rPr lang="en-US" dirty="0"/>
              <a:t>No global message ordering </a:t>
            </a:r>
          </a:p>
          <a:p>
            <a:r>
              <a:rPr lang="en-US" dirty="0"/>
              <a:t>Not Byzantine fault tolerant </a:t>
            </a:r>
          </a:p>
          <a:p>
            <a:r>
              <a:rPr lang="en-US" dirty="0"/>
              <a:t>Requires careful configuration </a:t>
            </a:r>
          </a:p>
          <a:p>
            <a:r>
              <a:rPr lang="en-US" dirty="0"/>
              <a:t>Can be complex to manage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519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CBAD6-1015-6C58-EA4F-CB39A56B3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DD40A6-F6AE-AB41-EE83-5632B51A7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Distributed systems require: </a:t>
            </a:r>
          </a:p>
          <a:p>
            <a:pPr lvl="1"/>
            <a:r>
              <a:rPr lang="en-US" dirty="0"/>
              <a:t>Reliable communication </a:t>
            </a:r>
          </a:p>
          <a:p>
            <a:pPr lvl="1"/>
            <a:r>
              <a:rPr lang="en-US" dirty="0"/>
              <a:t>Consistent ordering </a:t>
            </a:r>
          </a:p>
          <a:p>
            <a:pPr lvl="1"/>
            <a:r>
              <a:rPr lang="en-US" dirty="0"/>
              <a:t>Fault tolerance </a:t>
            </a:r>
          </a:p>
          <a:p>
            <a:r>
              <a:rPr lang="en-US" dirty="0"/>
              <a:t>Apache Kafka provides: </a:t>
            </a:r>
          </a:p>
          <a:p>
            <a:pPr lvl="1"/>
            <a:r>
              <a:rPr lang="en-US" dirty="0"/>
              <a:t>Efficient data streaming </a:t>
            </a:r>
          </a:p>
          <a:p>
            <a:pPr lvl="1"/>
            <a:r>
              <a:rPr lang="en-US" dirty="0"/>
              <a:t>Strong scalability </a:t>
            </a:r>
          </a:p>
          <a:p>
            <a:r>
              <a:rPr lang="en-US" dirty="0"/>
              <a:t>👉 Trade-off:</a:t>
            </a:r>
          </a:p>
          <a:p>
            <a:r>
              <a:rPr lang="en-US" dirty="0"/>
              <a:t>Performance vs strong consistency &amp; security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67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95215-356F-4068-52CE-15FE8C738A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76C1C-6733-2FE6-B385-4321FA348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9498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22</TotalTime>
  <Words>968</Words>
  <Application>Microsoft Office PowerPoint</Application>
  <PresentationFormat>Widescreen</PresentationFormat>
  <Paragraphs>186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Neue Haas Grotesk Text Pro</vt:lpstr>
      <vt:lpstr>VanillaVTI</vt:lpstr>
      <vt:lpstr>Distributed Systems Security Ordering, Broadcast, Synchronization &amp; Fault Tolerance Case Study: Apache Kafka </vt:lpstr>
      <vt:lpstr>Distributed Systems Overview</vt:lpstr>
      <vt:lpstr>What is Apache Kafka?</vt:lpstr>
      <vt:lpstr>Message Ordering</vt:lpstr>
      <vt:lpstr>Broadcast Model</vt:lpstr>
      <vt:lpstr>Broadcast in Synchronous vs Asynchronous Systems </vt:lpstr>
      <vt:lpstr>PowerPoint Presentation</vt:lpstr>
      <vt:lpstr>Byzantine Fault Tolerance</vt:lpstr>
      <vt:lpstr>PowerPoint Presentation</vt:lpstr>
      <vt:lpstr>Protocols in Kafka</vt:lpstr>
      <vt:lpstr>System Scale &amp; Number of Servers</vt:lpstr>
      <vt:lpstr>Leader Election in Kafka</vt:lpstr>
      <vt:lpstr>Replicated State Machine (RSM) in Kafka</vt:lpstr>
      <vt:lpstr>Advantages &amp; Disadvantages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SALAMA</dc:creator>
  <cp:lastModifiedBy>Ahmed SALAMA</cp:lastModifiedBy>
  <cp:revision>2</cp:revision>
  <dcterms:created xsi:type="dcterms:W3CDTF">2026-04-29T15:52:26Z</dcterms:created>
  <dcterms:modified xsi:type="dcterms:W3CDTF">2026-04-30T16:31:23Z</dcterms:modified>
</cp:coreProperties>
</file>