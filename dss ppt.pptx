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7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1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8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7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3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6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26D8F-32B2-E4CC-0E9D-A147CB0A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5" b="57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69022-8A06-C0D7-4448-81BCEB14A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r>
              <a:rPr lang="en-US" sz="2200" dirty="0"/>
              <a:t>Distributed Systems Security</a:t>
            </a:r>
            <a:br>
              <a:rPr lang="en-US" sz="2200" dirty="0"/>
            </a:br>
            <a:r>
              <a:rPr lang="en-US" sz="2200" dirty="0"/>
              <a:t>Ordering, Broadcast, Synchronization &amp; Fault Tolerance</a:t>
            </a:r>
            <a:br>
              <a:rPr lang="en-US" sz="2200" dirty="0"/>
            </a:br>
            <a:r>
              <a:rPr lang="en-US" sz="2200" dirty="0"/>
              <a:t>Case Study: Apache Kafka</a:t>
            </a:r>
            <a:br>
              <a:rPr lang="en-US" sz="6000" dirty="0"/>
            </a:b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C4610-816E-FC6A-5D49-2C373C393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Yousef ahmed </a:t>
            </a:r>
            <a:r>
              <a:rPr lang="en-US" sz="2200" dirty="0" err="1"/>
              <a:t>salama</a:t>
            </a:r>
            <a:r>
              <a:rPr lang="en-US" sz="2200" dirty="0"/>
              <a:t> </a:t>
            </a:r>
          </a:p>
          <a:p>
            <a:pPr algn="l"/>
            <a:r>
              <a:rPr lang="en-US" sz="2200" dirty="0"/>
              <a:t>231004873</a:t>
            </a:r>
          </a:p>
        </p:txBody>
      </p:sp>
    </p:spTree>
    <p:extLst>
      <p:ext uri="{BB962C8B-B14F-4D97-AF65-F5344CB8AC3E}">
        <p14:creationId xmlns:p14="http://schemas.microsoft.com/office/powerpoint/2010/main" val="264681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6A08-B1FF-6B30-73C1-6AC7B726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10EC-5CAD-D688-1A90-FA4F856F4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distributed system is a collection of independent nodes that communicate over a network </a:t>
            </a:r>
          </a:p>
          <a:p>
            <a:r>
              <a:rPr lang="en-US" dirty="0"/>
              <a:t>Nodes coordinate to appear as a </a:t>
            </a:r>
            <a:r>
              <a:rPr lang="en-US" b="1" dirty="0"/>
              <a:t>single unified system</a:t>
            </a:r>
            <a:r>
              <a:rPr lang="en-US" dirty="0"/>
              <a:t> </a:t>
            </a:r>
          </a:p>
          <a:p>
            <a:r>
              <a:rPr lang="en-US" b="1" dirty="0"/>
              <a:t>Key Characteristics:</a:t>
            </a:r>
            <a:endParaRPr lang="en-US" dirty="0"/>
          </a:p>
          <a:p>
            <a:r>
              <a:rPr lang="en-US" dirty="0"/>
              <a:t>Concurrency (multiple nodes operate simultaneously) </a:t>
            </a:r>
          </a:p>
          <a:p>
            <a:r>
              <a:rPr lang="en-US" dirty="0"/>
              <a:t>No global clock </a:t>
            </a:r>
          </a:p>
          <a:p>
            <a:r>
              <a:rPr lang="en-US" dirty="0"/>
              <a:t>Independent failures possible </a:t>
            </a:r>
          </a:p>
          <a:p>
            <a:r>
              <a:rPr lang="en-US" b="1" dirty="0"/>
              <a:t>Main Challenges:</a:t>
            </a:r>
            <a:endParaRPr lang="en-US" dirty="0"/>
          </a:p>
          <a:p>
            <a:r>
              <a:rPr lang="en-US" dirty="0"/>
              <a:t>Maintaining consistency across nodes </a:t>
            </a:r>
          </a:p>
          <a:p>
            <a:r>
              <a:rPr lang="en-US" dirty="0"/>
              <a:t>Handling failures and delays </a:t>
            </a:r>
          </a:p>
          <a:p>
            <a:r>
              <a:rPr lang="en-US" dirty="0"/>
              <a:t>Ensuring secure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9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BBDF-2B2F-A9FB-9485-CD06CD1A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Apache Kafka?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7C86-B300-D493-E3DB-95BC603A5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distributed event streaming platform</a:t>
            </a:r>
            <a:r>
              <a:rPr lang="en-US" dirty="0"/>
              <a:t> </a:t>
            </a:r>
          </a:p>
          <a:p>
            <a:r>
              <a:rPr lang="en-US" dirty="0"/>
              <a:t>Designed for </a:t>
            </a:r>
            <a:r>
              <a:rPr lang="en-US" b="1" dirty="0"/>
              <a:t>high-throughput, real-time data processing</a:t>
            </a:r>
            <a:r>
              <a:rPr lang="en-US" dirty="0"/>
              <a:t> </a:t>
            </a:r>
          </a:p>
          <a:p>
            <a:r>
              <a:rPr lang="en-US" b="1" dirty="0"/>
              <a:t>Core Components:</a:t>
            </a:r>
            <a:endParaRPr lang="en-US" dirty="0"/>
          </a:p>
          <a:p>
            <a:r>
              <a:rPr lang="en-US" b="1" dirty="0"/>
              <a:t>Producer</a:t>
            </a:r>
            <a:r>
              <a:rPr lang="en-US" dirty="0"/>
              <a:t> → sends messages </a:t>
            </a:r>
          </a:p>
          <a:p>
            <a:r>
              <a:rPr lang="en-US" b="1" dirty="0"/>
              <a:t>Broker</a:t>
            </a:r>
            <a:r>
              <a:rPr lang="en-US" dirty="0"/>
              <a:t> → stores and manages data </a:t>
            </a:r>
          </a:p>
          <a:p>
            <a:r>
              <a:rPr lang="en-US" b="1" dirty="0"/>
              <a:t>Consumer</a:t>
            </a:r>
            <a:r>
              <a:rPr lang="en-US" dirty="0"/>
              <a:t> → reads messages </a:t>
            </a:r>
          </a:p>
          <a:p>
            <a:r>
              <a:rPr lang="en-US" b="1" dirty="0"/>
              <a:t>Topic</a:t>
            </a:r>
            <a:r>
              <a:rPr lang="en-US" dirty="0"/>
              <a:t> → category of messages </a:t>
            </a:r>
          </a:p>
          <a:p>
            <a:r>
              <a:rPr lang="en-US" b="1" dirty="0"/>
              <a:t>Partition</a:t>
            </a:r>
            <a:r>
              <a:rPr lang="en-US" dirty="0"/>
              <a:t> → enables parallelism 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Horizontal scalability </a:t>
            </a:r>
          </a:p>
          <a:p>
            <a:r>
              <a:rPr lang="en-US" dirty="0"/>
              <a:t>Fault tolerance via replication </a:t>
            </a:r>
          </a:p>
          <a:p>
            <a:r>
              <a:rPr lang="en-US" dirty="0"/>
              <a:t>Persistent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86C2-C177-F123-A359-5A975D1C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35D2-C146-7953-17AB-7E8480A2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Ordering defines how messages are delivered and processed across nodes </a:t>
            </a:r>
          </a:p>
          <a:p>
            <a:r>
              <a:rPr lang="en-US" b="1" dirty="0"/>
              <a:t>Types of Ordering:</a:t>
            </a:r>
            <a:endParaRPr lang="en-US" dirty="0"/>
          </a:p>
          <a:p>
            <a:r>
              <a:rPr lang="en-US" dirty="0"/>
              <a:t>FIFO → per sender order </a:t>
            </a:r>
          </a:p>
          <a:p>
            <a:r>
              <a:rPr lang="en-US" dirty="0"/>
              <a:t>Causal → preserves dependencies </a:t>
            </a:r>
          </a:p>
          <a:p>
            <a:r>
              <a:rPr lang="en-US" dirty="0"/>
              <a:t>Total → same order for all nodes </a:t>
            </a:r>
          </a:p>
          <a:p>
            <a:r>
              <a:rPr lang="en-US" b="1" dirty="0"/>
              <a:t>Kafka Implementation:</a:t>
            </a:r>
            <a:endParaRPr lang="en-US" dirty="0"/>
          </a:p>
          <a:p>
            <a:r>
              <a:rPr lang="en-US" dirty="0"/>
              <a:t>Guarantees </a:t>
            </a:r>
            <a:r>
              <a:rPr lang="en-US" b="1" dirty="0"/>
              <a:t>FIFO ordering within each partition</a:t>
            </a:r>
            <a:r>
              <a:rPr lang="en-US" dirty="0"/>
              <a:t> </a:t>
            </a:r>
          </a:p>
          <a:p>
            <a:r>
              <a:rPr lang="en-US" dirty="0"/>
              <a:t>No ordering across multiple partitions </a:t>
            </a:r>
          </a:p>
          <a:p>
            <a:r>
              <a:rPr lang="en-US" dirty="0"/>
              <a:t>👉 </a:t>
            </a:r>
            <a:r>
              <a:rPr lang="en-US" b="1" dirty="0"/>
              <a:t>Design Trade-off:</a:t>
            </a:r>
            <a:endParaRPr lang="en-US" dirty="0"/>
          </a:p>
          <a:p>
            <a:r>
              <a:rPr lang="en-US" dirty="0"/>
              <a:t>✔ High performance &amp; scalability </a:t>
            </a:r>
          </a:p>
          <a:p>
            <a:r>
              <a:rPr lang="en-US" dirty="0"/>
              <a:t>✘ No global 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2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58C7-2170-5018-20F5-76EFC1CD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389F-5E98-D80B-6B31-28E6E138A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Broadcast = sending messages from one node to many nodes </a:t>
            </a:r>
          </a:p>
          <a:p>
            <a:r>
              <a:rPr lang="en-US" b="1" dirty="0"/>
              <a:t>Types:</a:t>
            </a:r>
            <a:endParaRPr lang="en-US" dirty="0"/>
          </a:p>
          <a:p>
            <a:r>
              <a:rPr lang="en-US" dirty="0"/>
              <a:t>Best-effort → no guarantees </a:t>
            </a:r>
          </a:p>
          <a:p>
            <a:r>
              <a:rPr lang="en-US" dirty="0"/>
              <a:t>Reliable → ensures delivery </a:t>
            </a:r>
          </a:p>
          <a:p>
            <a:r>
              <a:rPr lang="en-US" dirty="0"/>
              <a:t>Atomic → delivery + total ordering </a:t>
            </a:r>
          </a:p>
          <a:p>
            <a:r>
              <a:rPr lang="en-US" b="1" dirty="0"/>
              <a:t>Kafka Model: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Publish–Subscribe architecture</a:t>
            </a:r>
            <a:r>
              <a:rPr lang="en-US" dirty="0"/>
              <a:t> </a:t>
            </a:r>
          </a:p>
          <a:p>
            <a:r>
              <a:rPr lang="en-US" dirty="0"/>
              <a:t>Producers → publish to topics </a:t>
            </a:r>
          </a:p>
          <a:p>
            <a:r>
              <a:rPr lang="en-US" dirty="0"/>
              <a:t>Consumers → subscribe </a:t>
            </a:r>
          </a:p>
          <a:p>
            <a:r>
              <a:rPr lang="en-US" dirty="0"/>
              <a:t>👉 Similar to </a:t>
            </a:r>
            <a:r>
              <a:rPr lang="en-US" b="1" dirty="0"/>
              <a:t>Reliable Broadcast</a:t>
            </a:r>
            <a:endParaRPr lang="en-US" dirty="0"/>
          </a:p>
          <a:p>
            <a:r>
              <a:rPr lang="en-US" dirty="0"/>
              <a:t>Messages are replicated across brokers </a:t>
            </a:r>
          </a:p>
          <a:p>
            <a:r>
              <a:rPr lang="en-US" dirty="0"/>
              <a:t>Ensures durability and availability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81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E8B34-BF00-E0AA-4121-F09942B5D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vs Asynchronous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D155-E831-963C-E30D-DD7A378E4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Synchronous Systems:</a:t>
            </a:r>
            <a:endParaRPr lang="en-US" dirty="0"/>
          </a:p>
          <a:p>
            <a:r>
              <a:rPr lang="en-US" dirty="0"/>
              <a:t>Known bounds on time (message + processing) </a:t>
            </a:r>
          </a:p>
          <a:p>
            <a:r>
              <a:rPr lang="en-US" dirty="0"/>
              <a:t>Easier failure detection </a:t>
            </a:r>
          </a:p>
          <a:p>
            <a:r>
              <a:rPr lang="en-US" b="1" dirty="0"/>
              <a:t>Asynchronous Systems:</a:t>
            </a:r>
            <a:endParaRPr lang="en-US" dirty="0"/>
          </a:p>
          <a:p>
            <a:r>
              <a:rPr lang="en-US" dirty="0"/>
              <a:t>No timing guarantees </a:t>
            </a:r>
          </a:p>
          <a:p>
            <a:r>
              <a:rPr lang="en-US" dirty="0"/>
              <a:t>Messages may be delayed indefinitely </a:t>
            </a:r>
          </a:p>
          <a:p>
            <a:r>
              <a:rPr lang="en-US" b="1" dirty="0"/>
              <a:t>Kafka Model:</a:t>
            </a:r>
            <a:endParaRPr lang="en-US" dirty="0"/>
          </a:p>
          <a:p>
            <a:r>
              <a:rPr lang="en-US" b="1" dirty="0"/>
              <a:t>Partially asynchronous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Uses timeouts </a:t>
            </a:r>
          </a:p>
          <a:p>
            <a:pPr lvl="1"/>
            <a:r>
              <a:rPr lang="en-US" dirty="0"/>
              <a:t>Uses replication for reliability </a:t>
            </a:r>
          </a:p>
          <a:p>
            <a:r>
              <a:rPr lang="en-US" dirty="0"/>
              <a:t>👉 Real-world systems are almost always asynchronous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6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8CE0-C651-4E7B-9CB7-F2C7536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Byzantine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5CBD-5BAC-EE73-9E67-F4E815EEC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Handles nodes that behave </a:t>
            </a:r>
            <a:r>
              <a:rPr lang="en-US" b="1" dirty="0"/>
              <a:t>maliciously or incorrectly</a:t>
            </a:r>
            <a:r>
              <a:rPr lang="en-US" dirty="0"/>
              <a:t> </a:t>
            </a:r>
          </a:p>
          <a:p>
            <a:r>
              <a:rPr lang="en-US" dirty="0"/>
              <a:t>Based on:</a:t>
            </a:r>
            <a:br>
              <a:rPr lang="en-US" dirty="0"/>
            </a:br>
            <a:r>
              <a:rPr lang="en-US" dirty="0"/>
              <a:t>Byzantine Generals Problem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Nodes may send false or conflicting information </a:t>
            </a:r>
          </a:p>
          <a:p>
            <a:r>
              <a:rPr lang="en-US" b="1" dirty="0"/>
              <a:t>Solution Requirement:</a:t>
            </a:r>
            <a:endParaRPr lang="en-US" dirty="0"/>
          </a:p>
          <a:p>
            <a:r>
              <a:rPr lang="en-US" dirty="0"/>
              <a:t>Need </a:t>
            </a:r>
            <a:r>
              <a:rPr lang="en-US" b="1" dirty="0"/>
              <a:t>3f + 1 nodes</a:t>
            </a:r>
            <a:r>
              <a:rPr lang="en-US" dirty="0"/>
              <a:t> to tolerate </a:t>
            </a:r>
            <a:r>
              <a:rPr lang="en-US" i="1" dirty="0"/>
              <a:t>f</a:t>
            </a:r>
            <a:r>
              <a:rPr lang="en-US" dirty="0"/>
              <a:t> malicious nodes </a:t>
            </a:r>
          </a:p>
          <a:p>
            <a:r>
              <a:rPr lang="en-US" b="1" dirty="0"/>
              <a:t>Kafka:</a:t>
            </a:r>
            <a:endParaRPr lang="en-US" dirty="0"/>
          </a:p>
          <a:p>
            <a:r>
              <a:rPr lang="en-US" dirty="0"/>
              <a:t>✔ Handles crash failures </a:t>
            </a:r>
          </a:p>
          <a:p>
            <a:r>
              <a:rPr lang="en-US" dirty="0"/>
              <a:t>✘ Does NOT handle Byzantine (malicious) faults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61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978B-B1E1-21D1-7C31-A8B84862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5DBE-DD43-0591-97DF-1539D8F41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Kafka uses a </a:t>
            </a:r>
            <a:r>
              <a:rPr lang="en-US" b="1" dirty="0"/>
              <a:t>leader–follower replication protocol</a:t>
            </a:r>
            <a:r>
              <a:rPr lang="en-US" dirty="0"/>
              <a:t> 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r>
              <a:rPr lang="en-US" dirty="0"/>
              <a:t>Producer sends message to leader broker </a:t>
            </a:r>
          </a:p>
          <a:p>
            <a:r>
              <a:rPr lang="en-US" dirty="0"/>
              <a:t>Leader writes to log </a:t>
            </a:r>
          </a:p>
          <a:p>
            <a:r>
              <a:rPr lang="en-US" dirty="0"/>
              <a:t>Followers replicate data </a:t>
            </a:r>
          </a:p>
          <a:p>
            <a:r>
              <a:rPr lang="en-US" dirty="0"/>
              <a:t>Acknowledgment is sent </a:t>
            </a:r>
          </a:p>
          <a:p>
            <a:r>
              <a:rPr lang="en-US" b="1" dirty="0"/>
              <a:t>Related Concepts:</a:t>
            </a:r>
            <a:endParaRPr lang="en-US" dirty="0"/>
          </a:p>
          <a:p>
            <a:r>
              <a:rPr lang="en-US" dirty="0"/>
              <a:t>Raft </a:t>
            </a:r>
          </a:p>
          <a:p>
            <a:r>
              <a:rPr lang="en-US" dirty="0"/>
              <a:t>Paxos </a:t>
            </a:r>
          </a:p>
          <a:p>
            <a:r>
              <a:rPr lang="en-US" dirty="0"/>
              <a:t>👉 Ensures:</a:t>
            </a:r>
          </a:p>
          <a:p>
            <a:r>
              <a:rPr lang="en-US" dirty="0"/>
              <a:t>Data consistency </a:t>
            </a:r>
          </a:p>
          <a:p>
            <a:r>
              <a:rPr lang="en-US" dirty="0"/>
              <a:t>Fault tolerance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4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2994-B2DC-CC44-D05F-402F3DC3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CA4A-0046-3BB6-BD63-E8333F41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High throughput (handles large data streams) </a:t>
            </a:r>
          </a:p>
          <a:p>
            <a:r>
              <a:rPr lang="en-US" dirty="0"/>
              <a:t>Scalable (partition-based design) </a:t>
            </a:r>
          </a:p>
          <a:p>
            <a:r>
              <a:rPr lang="en-US" dirty="0"/>
              <a:t>Fault tolerant (replication mechanism) </a:t>
            </a:r>
          </a:p>
          <a:p>
            <a:r>
              <a:rPr lang="en-US" dirty="0"/>
              <a:t>Durable storage </a:t>
            </a:r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No global message ordering </a:t>
            </a:r>
          </a:p>
          <a:p>
            <a:r>
              <a:rPr lang="en-US" dirty="0"/>
              <a:t>Not Byzantine fault tolerant </a:t>
            </a:r>
          </a:p>
          <a:p>
            <a:r>
              <a:rPr lang="en-US" dirty="0"/>
              <a:t>Requires careful configuration </a:t>
            </a:r>
          </a:p>
          <a:p>
            <a:r>
              <a:rPr lang="en-US" dirty="0"/>
              <a:t>Can be complex to manage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1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BAD6-1015-6C58-EA4F-CB39A56B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40A6-F6AE-AB41-EE83-5632B51A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systems require: </a:t>
            </a:r>
          </a:p>
          <a:p>
            <a:pPr lvl="1"/>
            <a:r>
              <a:rPr lang="en-US" dirty="0"/>
              <a:t>Reliable communication </a:t>
            </a:r>
          </a:p>
          <a:p>
            <a:pPr lvl="1"/>
            <a:r>
              <a:rPr lang="en-US" dirty="0"/>
              <a:t>Consistent ordering </a:t>
            </a:r>
          </a:p>
          <a:p>
            <a:pPr lvl="1"/>
            <a:r>
              <a:rPr lang="en-US" dirty="0"/>
              <a:t>Fault tolerance </a:t>
            </a:r>
          </a:p>
          <a:p>
            <a:r>
              <a:rPr lang="en-US" dirty="0"/>
              <a:t>Apache Kafka provides: </a:t>
            </a:r>
          </a:p>
          <a:p>
            <a:pPr lvl="1"/>
            <a:r>
              <a:rPr lang="en-US" dirty="0"/>
              <a:t>Efficient data streaming </a:t>
            </a:r>
          </a:p>
          <a:p>
            <a:pPr lvl="1"/>
            <a:r>
              <a:rPr lang="en-US" dirty="0"/>
              <a:t>Strong scalability </a:t>
            </a:r>
          </a:p>
          <a:p>
            <a:r>
              <a:rPr lang="en-US" dirty="0"/>
              <a:t>👉 Trade-off:</a:t>
            </a:r>
          </a:p>
          <a:p>
            <a:r>
              <a:rPr lang="en-US" dirty="0"/>
              <a:t>Performance vs strong consistency &amp;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6797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6</TotalTime>
  <Words>466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VanillaVTI</vt:lpstr>
      <vt:lpstr>Distributed Systems Security Ordering, Broadcast, Synchronization &amp; Fault Tolerance Case Study: Apache Kafka </vt:lpstr>
      <vt:lpstr>Distributed Systems Overview</vt:lpstr>
      <vt:lpstr>What is Apache Kafka?</vt:lpstr>
      <vt:lpstr>Message Ordering</vt:lpstr>
      <vt:lpstr>Broadcast Model</vt:lpstr>
      <vt:lpstr>Synchronous vs Asynchronous Systems</vt:lpstr>
      <vt:lpstr>Byzantine Fault Tolerance</vt:lpstr>
      <vt:lpstr>Protocols in Kafka</vt:lpstr>
      <vt:lpstr>Advantages &amp; Disadvantages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SALAMA</dc:creator>
  <cp:lastModifiedBy>Ahmed SALAMA</cp:lastModifiedBy>
  <cp:revision>1</cp:revision>
  <dcterms:created xsi:type="dcterms:W3CDTF">2026-04-29T15:52:26Z</dcterms:created>
  <dcterms:modified xsi:type="dcterms:W3CDTF">2026-04-29T15:58:28Z</dcterms:modified>
</cp:coreProperties>
</file>