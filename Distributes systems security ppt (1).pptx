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4" r:id="rId5"/>
    <p:sldId id="259" r:id="rId6"/>
    <p:sldId id="275" r:id="rId7"/>
    <p:sldId id="260" r:id="rId8"/>
    <p:sldId id="276" r:id="rId9"/>
    <p:sldId id="271" r:id="rId10"/>
    <p:sldId id="272" r:id="rId11"/>
    <p:sldId id="277" r:id="rId12"/>
    <p:sldId id="278" r:id="rId13"/>
    <p:sldId id="262" r:id="rId14"/>
    <p:sldId id="268" r:id="rId15"/>
    <p:sldId id="279" r:id="rId16"/>
    <p:sldId id="263" r:id="rId17"/>
    <p:sldId id="266" r:id="rId18"/>
    <p:sldId id="267" r:id="rId19"/>
    <p:sldId id="280" r:id="rId20"/>
    <p:sldId id="269" r:id="rId21"/>
    <p:sldId id="281" r:id="rId22"/>
    <p:sldId id="264" r:id="rId23"/>
    <p:sldId id="265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>
        <p:scale>
          <a:sx n="47" d="100"/>
          <a:sy n="47" d="100"/>
        </p:scale>
        <p:origin x="52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C29E10-8BFF-4271-AD45-61E5AD6040A5}" type="doc">
      <dgm:prSet loTypeId="urn:microsoft.com/office/officeart/2018/layout/CircleProcess" loCatId="simpleprocesssa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EAE19C1-697B-42AE-B520-E6E068EE8303}">
      <dgm:prSet/>
      <dgm:spPr/>
      <dgm:t>
        <a:bodyPr/>
        <a:lstStyle/>
        <a:p>
          <a:r>
            <a:rPr lang="en-US" b="1"/>
            <a:t>Kafka’s Model:</a:t>
          </a:r>
          <a:endParaRPr lang="en-US"/>
        </a:p>
      </dgm:t>
    </dgm:pt>
    <dgm:pt modelId="{709DF650-F74F-4F25-9B27-8338BE9FA88B}" type="parTrans" cxnId="{54A2DC52-EA83-42DA-9777-4F29DA677A9F}">
      <dgm:prSet/>
      <dgm:spPr/>
      <dgm:t>
        <a:bodyPr/>
        <a:lstStyle/>
        <a:p>
          <a:endParaRPr lang="en-US"/>
        </a:p>
      </dgm:t>
    </dgm:pt>
    <dgm:pt modelId="{C269DB45-5A1B-4040-91CE-14BC066427B8}" type="sibTrans" cxnId="{54A2DC52-EA83-42DA-9777-4F29DA677A9F}">
      <dgm:prSet/>
      <dgm:spPr/>
      <dgm:t>
        <a:bodyPr/>
        <a:lstStyle/>
        <a:p>
          <a:endParaRPr lang="en-US"/>
        </a:p>
      </dgm:t>
    </dgm:pt>
    <dgm:pt modelId="{CDA9E529-42C9-4A35-8B08-2475BA47216D}">
      <dgm:prSet/>
      <dgm:spPr/>
      <dgm:t>
        <a:bodyPr/>
        <a:lstStyle/>
        <a:p>
          <a:r>
            <a:rPr lang="en-US"/>
            <a:t>Apache Kafka operates in a </a:t>
          </a:r>
          <a:r>
            <a:rPr lang="en-US" b="1"/>
            <a:t>partially asynchronous system</a:t>
          </a:r>
          <a:r>
            <a:rPr lang="en-US"/>
            <a:t> </a:t>
          </a:r>
        </a:p>
      </dgm:t>
    </dgm:pt>
    <dgm:pt modelId="{05EC2DC9-A440-4FA4-B6A1-7CEA92A56473}" type="parTrans" cxnId="{92E02CB4-B950-4E9F-B0AA-06AA74EE02AB}">
      <dgm:prSet/>
      <dgm:spPr/>
      <dgm:t>
        <a:bodyPr/>
        <a:lstStyle/>
        <a:p>
          <a:endParaRPr lang="en-US"/>
        </a:p>
      </dgm:t>
    </dgm:pt>
    <dgm:pt modelId="{18C01370-EFAD-452A-B823-C26D8991349D}" type="sibTrans" cxnId="{92E02CB4-B950-4E9F-B0AA-06AA74EE02AB}">
      <dgm:prSet/>
      <dgm:spPr/>
      <dgm:t>
        <a:bodyPr/>
        <a:lstStyle/>
        <a:p>
          <a:endParaRPr lang="en-US"/>
        </a:p>
      </dgm:t>
    </dgm:pt>
    <dgm:pt modelId="{D7B9C2A5-65DC-498C-B8F1-756756A04797}">
      <dgm:prSet/>
      <dgm:spPr/>
      <dgm:t>
        <a:bodyPr/>
        <a:lstStyle/>
        <a:p>
          <a:r>
            <a:rPr lang="en-US"/>
            <a:t>Uses replication + acknowledgments </a:t>
          </a:r>
        </a:p>
      </dgm:t>
    </dgm:pt>
    <dgm:pt modelId="{7257BFD7-D942-4430-BDB5-E2641D544D39}" type="parTrans" cxnId="{F1594C04-0B97-40A5-A4C6-F130C0784BF5}">
      <dgm:prSet/>
      <dgm:spPr/>
      <dgm:t>
        <a:bodyPr/>
        <a:lstStyle/>
        <a:p>
          <a:endParaRPr lang="en-US"/>
        </a:p>
      </dgm:t>
    </dgm:pt>
    <dgm:pt modelId="{C21C4945-8DE7-429F-8D55-6B0123E235D6}" type="sibTrans" cxnId="{F1594C04-0B97-40A5-A4C6-F130C0784BF5}">
      <dgm:prSet/>
      <dgm:spPr/>
      <dgm:t>
        <a:bodyPr/>
        <a:lstStyle/>
        <a:p>
          <a:endParaRPr lang="en-US"/>
        </a:p>
      </dgm:t>
    </dgm:pt>
    <dgm:pt modelId="{E5245ABF-0ACE-40BE-910B-1D91DA64E2A7}">
      <dgm:prSet/>
      <dgm:spPr/>
      <dgm:t>
        <a:bodyPr/>
        <a:lstStyle/>
        <a:p>
          <a:r>
            <a:rPr lang="en-US"/>
            <a:t>Broadcast is </a:t>
          </a:r>
          <a:r>
            <a:rPr lang="en-US" b="1"/>
            <a:t>reliable but NOT time-bounded</a:t>
          </a:r>
          <a:r>
            <a:rPr lang="en-US"/>
            <a:t> </a:t>
          </a:r>
        </a:p>
      </dgm:t>
    </dgm:pt>
    <dgm:pt modelId="{C6037B80-472F-4777-A361-772F146AEC6B}" type="parTrans" cxnId="{FDD31170-0427-4212-90C8-43817D39228E}">
      <dgm:prSet/>
      <dgm:spPr/>
      <dgm:t>
        <a:bodyPr/>
        <a:lstStyle/>
        <a:p>
          <a:endParaRPr lang="en-US"/>
        </a:p>
      </dgm:t>
    </dgm:pt>
    <dgm:pt modelId="{3238C12F-CAA4-4FBF-A985-52533962D6E6}" type="sibTrans" cxnId="{FDD31170-0427-4212-90C8-43817D39228E}">
      <dgm:prSet/>
      <dgm:spPr/>
      <dgm:t>
        <a:bodyPr/>
        <a:lstStyle/>
        <a:p>
          <a:endParaRPr lang="en-US"/>
        </a:p>
      </dgm:t>
    </dgm:pt>
    <dgm:pt modelId="{9F7D5BAF-010E-418B-9379-100B205C305F}">
      <dgm:prSet/>
      <dgm:spPr/>
      <dgm:t>
        <a:bodyPr/>
        <a:lstStyle/>
        <a:p>
          <a:r>
            <a:rPr lang="en-US"/>
            <a:t>👉 Designed for scalability, not strict timing guarantees</a:t>
          </a:r>
        </a:p>
      </dgm:t>
    </dgm:pt>
    <dgm:pt modelId="{B960570F-AC66-4367-B2FE-553FC14DE067}" type="parTrans" cxnId="{2FDE24A8-D78C-4008-84F5-C3EE72AA9F19}">
      <dgm:prSet/>
      <dgm:spPr/>
      <dgm:t>
        <a:bodyPr/>
        <a:lstStyle/>
        <a:p>
          <a:endParaRPr lang="en-US"/>
        </a:p>
      </dgm:t>
    </dgm:pt>
    <dgm:pt modelId="{1B9C014C-0176-40A5-86BC-21C6C28FA93F}" type="sibTrans" cxnId="{2FDE24A8-D78C-4008-84F5-C3EE72AA9F19}">
      <dgm:prSet/>
      <dgm:spPr/>
      <dgm:t>
        <a:bodyPr/>
        <a:lstStyle/>
        <a:p>
          <a:endParaRPr lang="en-US"/>
        </a:p>
      </dgm:t>
    </dgm:pt>
    <dgm:pt modelId="{704FCBEF-6BD2-4686-8110-F93D819B6390}" type="pres">
      <dgm:prSet presAssocID="{37C29E10-8BFF-4271-AD45-61E5AD6040A5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C9B0D5E-FCAD-4B0C-9433-F88C03F0EA30}" type="pres">
      <dgm:prSet presAssocID="{9F7D5BAF-010E-418B-9379-100B205C305F}" presName="Accent5" presStyleCnt="0"/>
      <dgm:spPr/>
    </dgm:pt>
    <dgm:pt modelId="{FCF16F31-7D05-4F94-A6D3-1F2AFC10B71F}" type="pres">
      <dgm:prSet presAssocID="{9F7D5BAF-010E-418B-9379-100B205C305F}" presName="Accent" presStyleLbl="node1" presStyleIdx="0" presStyleCnt="10"/>
      <dgm:spPr/>
    </dgm:pt>
    <dgm:pt modelId="{FC578A95-FBBB-4C3F-B9B7-C54C7BFD9E5C}" type="pres">
      <dgm:prSet presAssocID="{9F7D5BAF-010E-418B-9379-100B205C305F}" presName="ParentBackground5" presStyleCnt="0"/>
      <dgm:spPr/>
    </dgm:pt>
    <dgm:pt modelId="{F14A79C9-6341-4AC9-8318-F9AFC5E14494}" type="pres">
      <dgm:prSet presAssocID="{9F7D5BAF-010E-418B-9379-100B205C305F}" presName="ParentBackground" presStyleLbl="node1" presStyleIdx="1" presStyleCnt="10"/>
      <dgm:spPr/>
    </dgm:pt>
    <dgm:pt modelId="{F0220D5B-1F50-4E53-B32F-CA4878E49253}" type="pres">
      <dgm:prSet presAssocID="{9F7D5BAF-010E-418B-9379-100B205C305F}" presName="Parent5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B200F8A4-F512-43DE-A69D-884F531BC9FF}" type="pres">
      <dgm:prSet presAssocID="{E5245ABF-0ACE-40BE-910B-1D91DA64E2A7}" presName="Accent4" presStyleCnt="0"/>
      <dgm:spPr/>
    </dgm:pt>
    <dgm:pt modelId="{60464121-8266-4504-96EC-E8BE5DB4D35B}" type="pres">
      <dgm:prSet presAssocID="{E5245ABF-0ACE-40BE-910B-1D91DA64E2A7}" presName="Accent" presStyleLbl="node1" presStyleIdx="2" presStyleCnt="10"/>
      <dgm:spPr/>
    </dgm:pt>
    <dgm:pt modelId="{2DF7BF3A-274D-44AA-9B53-2CF55005C2CC}" type="pres">
      <dgm:prSet presAssocID="{E5245ABF-0ACE-40BE-910B-1D91DA64E2A7}" presName="ParentBackground4" presStyleCnt="0"/>
      <dgm:spPr/>
    </dgm:pt>
    <dgm:pt modelId="{4C8914E5-39EF-47A8-8FCC-D289C410213D}" type="pres">
      <dgm:prSet presAssocID="{E5245ABF-0ACE-40BE-910B-1D91DA64E2A7}" presName="ParentBackground" presStyleLbl="node1" presStyleIdx="3" presStyleCnt="10"/>
      <dgm:spPr/>
    </dgm:pt>
    <dgm:pt modelId="{8E8831DA-E41E-4970-8663-1ACFB719424A}" type="pres">
      <dgm:prSet presAssocID="{E5245ABF-0ACE-40BE-910B-1D91DA64E2A7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48B48DBB-093A-4EAE-B07F-C9890AE3654A}" type="pres">
      <dgm:prSet presAssocID="{D7B9C2A5-65DC-498C-B8F1-756756A04797}" presName="Accent3" presStyleCnt="0"/>
      <dgm:spPr/>
    </dgm:pt>
    <dgm:pt modelId="{0E2C050E-4C0D-4E77-B839-B37EC8F95AFC}" type="pres">
      <dgm:prSet presAssocID="{D7B9C2A5-65DC-498C-B8F1-756756A04797}" presName="Accent" presStyleLbl="node1" presStyleIdx="4" presStyleCnt="10"/>
      <dgm:spPr/>
    </dgm:pt>
    <dgm:pt modelId="{5176E27E-E873-4CB6-A849-F82D4A859558}" type="pres">
      <dgm:prSet presAssocID="{D7B9C2A5-65DC-498C-B8F1-756756A04797}" presName="ParentBackground3" presStyleCnt="0"/>
      <dgm:spPr/>
    </dgm:pt>
    <dgm:pt modelId="{6081B248-AA7F-4B88-816D-EA9D15555D9F}" type="pres">
      <dgm:prSet presAssocID="{D7B9C2A5-65DC-498C-B8F1-756756A04797}" presName="ParentBackground" presStyleLbl="node1" presStyleIdx="5" presStyleCnt="10"/>
      <dgm:spPr/>
    </dgm:pt>
    <dgm:pt modelId="{4362508C-7182-4DA4-9DA9-EE0AF8675D67}" type="pres">
      <dgm:prSet presAssocID="{D7B9C2A5-65DC-498C-B8F1-756756A04797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84D25C14-32FF-4C3F-99F9-410E18D92687}" type="pres">
      <dgm:prSet presAssocID="{CDA9E529-42C9-4A35-8B08-2475BA47216D}" presName="Accent2" presStyleCnt="0"/>
      <dgm:spPr/>
    </dgm:pt>
    <dgm:pt modelId="{A6FF43D3-68E5-4125-A3A2-FB5DE5E2ED61}" type="pres">
      <dgm:prSet presAssocID="{CDA9E529-42C9-4A35-8B08-2475BA47216D}" presName="Accent" presStyleLbl="node1" presStyleIdx="6" presStyleCnt="10"/>
      <dgm:spPr/>
    </dgm:pt>
    <dgm:pt modelId="{CC9A85CB-3BDD-409C-AC63-C993E0B90819}" type="pres">
      <dgm:prSet presAssocID="{CDA9E529-42C9-4A35-8B08-2475BA47216D}" presName="ParentBackground2" presStyleCnt="0"/>
      <dgm:spPr/>
    </dgm:pt>
    <dgm:pt modelId="{C0FD5DDD-2C89-4DFA-8893-36981366118F}" type="pres">
      <dgm:prSet presAssocID="{CDA9E529-42C9-4A35-8B08-2475BA47216D}" presName="ParentBackground" presStyleLbl="node1" presStyleIdx="7" presStyleCnt="10"/>
      <dgm:spPr/>
    </dgm:pt>
    <dgm:pt modelId="{0C859908-908F-46B9-A88A-98D2D938287A}" type="pres">
      <dgm:prSet presAssocID="{CDA9E529-42C9-4A35-8B08-2475BA47216D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9B450D4B-1A59-4A7F-B441-6F55318F9966}" type="pres">
      <dgm:prSet presAssocID="{FEAE19C1-697B-42AE-B520-E6E068EE8303}" presName="Accent1" presStyleCnt="0"/>
      <dgm:spPr/>
    </dgm:pt>
    <dgm:pt modelId="{89963FC4-27A1-482C-B252-814385F18137}" type="pres">
      <dgm:prSet presAssocID="{FEAE19C1-697B-42AE-B520-E6E068EE8303}" presName="Accent" presStyleLbl="node1" presStyleIdx="8" presStyleCnt="10"/>
      <dgm:spPr/>
    </dgm:pt>
    <dgm:pt modelId="{54CBA881-A940-4A4F-8A29-6C9A7C129A58}" type="pres">
      <dgm:prSet presAssocID="{FEAE19C1-697B-42AE-B520-E6E068EE8303}" presName="ParentBackground1" presStyleCnt="0"/>
      <dgm:spPr/>
    </dgm:pt>
    <dgm:pt modelId="{A1E88A26-5E24-458E-9683-D409802384BE}" type="pres">
      <dgm:prSet presAssocID="{FEAE19C1-697B-42AE-B520-E6E068EE8303}" presName="ParentBackground" presStyleLbl="node1" presStyleIdx="9" presStyleCnt="10"/>
      <dgm:spPr/>
    </dgm:pt>
    <dgm:pt modelId="{BD58A388-0EA1-47D8-B06A-8254E587471C}" type="pres">
      <dgm:prSet presAssocID="{FEAE19C1-697B-42AE-B520-E6E068EE8303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BC1C1C04-7592-4C74-A2AA-6AADF6E385EB}" type="presOf" srcId="{E5245ABF-0ACE-40BE-910B-1D91DA64E2A7}" destId="{8E8831DA-E41E-4970-8663-1ACFB719424A}" srcOrd="1" destOrd="0" presId="urn:microsoft.com/office/officeart/2018/layout/CircleProcess"/>
    <dgm:cxn modelId="{F1594C04-0B97-40A5-A4C6-F130C0784BF5}" srcId="{37C29E10-8BFF-4271-AD45-61E5AD6040A5}" destId="{D7B9C2A5-65DC-498C-B8F1-756756A04797}" srcOrd="2" destOrd="0" parTransId="{7257BFD7-D942-4430-BDB5-E2641D544D39}" sibTransId="{C21C4945-8DE7-429F-8D55-6B0123E235D6}"/>
    <dgm:cxn modelId="{9055CF0D-591D-430B-BF29-18F6DE1E2F69}" type="presOf" srcId="{FEAE19C1-697B-42AE-B520-E6E068EE8303}" destId="{BD58A388-0EA1-47D8-B06A-8254E587471C}" srcOrd="1" destOrd="0" presId="urn:microsoft.com/office/officeart/2018/layout/CircleProcess"/>
    <dgm:cxn modelId="{0B1DE62C-8A2A-4A07-A0DB-C151F27FDC63}" type="presOf" srcId="{CDA9E529-42C9-4A35-8B08-2475BA47216D}" destId="{C0FD5DDD-2C89-4DFA-8893-36981366118F}" srcOrd="0" destOrd="0" presId="urn:microsoft.com/office/officeart/2018/layout/CircleProcess"/>
    <dgm:cxn modelId="{32148131-13FD-44D8-A008-321860059A14}" type="presOf" srcId="{9F7D5BAF-010E-418B-9379-100B205C305F}" destId="{F0220D5B-1F50-4E53-B32F-CA4878E49253}" srcOrd="1" destOrd="0" presId="urn:microsoft.com/office/officeart/2018/layout/CircleProcess"/>
    <dgm:cxn modelId="{49E6544F-8A43-44A5-97B5-0F8A56CEC380}" type="presOf" srcId="{FEAE19C1-697B-42AE-B520-E6E068EE8303}" destId="{A1E88A26-5E24-458E-9683-D409802384BE}" srcOrd="0" destOrd="0" presId="urn:microsoft.com/office/officeart/2018/layout/CircleProcess"/>
    <dgm:cxn modelId="{FDD31170-0427-4212-90C8-43817D39228E}" srcId="{37C29E10-8BFF-4271-AD45-61E5AD6040A5}" destId="{E5245ABF-0ACE-40BE-910B-1D91DA64E2A7}" srcOrd="3" destOrd="0" parTransId="{C6037B80-472F-4777-A361-772F146AEC6B}" sibTransId="{3238C12F-CAA4-4FBF-A985-52533962D6E6}"/>
    <dgm:cxn modelId="{0505C272-2BA7-40F7-AE71-19ABD4F50A45}" type="presOf" srcId="{D7B9C2A5-65DC-498C-B8F1-756756A04797}" destId="{4362508C-7182-4DA4-9DA9-EE0AF8675D67}" srcOrd="1" destOrd="0" presId="urn:microsoft.com/office/officeart/2018/layout/CircleProcess"/>
    <dgm:cxn modelId="{54A2DC52-EA83-42DA-9777-4F29DA677A9F}" srcId="{37C29E10-8BFF-4271-AD45-61E5AD6040A5}" destId="{FEAE19C1-697B-42AE-B520-E6E068EE8303}" srcOrd="0" destOrd="0" parTransId="{709DF650-F74F-4F25-9B27-8338BE9FA88B}" sibTransId="{C269DB45-5A1B-4040-91CE-14BC066427B8}"/>
    <dgm:cxn modelId="{7535F157-630C-4155-9EE7-4425A2852D1F}" type="presOf" srcId="{D7B9C2A5-65DC-498C-B8F1-756756A04797}" destId="{6081B248-AA7F-4B88-816D-EA9D15555D9F}" srcOrd="0" destOrd="0" presId="urn:microsoft.com/office/officeart/2018/layout/CircleProcess"/>
    <dgm:cxn modelId="{3512497C-12A3-49E6-AA16-208E12EF4285}" type="presOf" srcId="{E5245ABF-0ACE-40BE-910B-1D91DA64E2A7}" destId="{4C8914E5-39EF-47A8-8FCC-D289C410213D}" srcOrd="0" destOrd="0" presId="urn:microsoft.com/office/officeart/2018/layout/CircleProcess"/>
    <dgm:cxn modelId="{2516BB85-3A76-4A37-A04E-2B7430C7BAC0}" type="presOf" srcId="{37C29E10-8BFF-4271-AD45-61E5AD6040A5}" destId="{704FCBEF-6BD2-4686-8110-F93D819B6390}" srcOrd="0" destOrd="0" presId="urn:microsoft.com/office/officeart/2018/layout/CircleProcess"/>
    <dgm:cxn modelId="{B2217989-292A-4466-BC45-58FD6ED36CD8}" type="presOf" srcId="{CDA9E529-42C9-4A35-8B08-2475BA47216D}" destId="{0C859908-908F-46B9-A88A-98D2D938287A}" srcOrd="1" destOrd="0" presId="urn:microsoft.com/office/officeart/2018/layout/CircleProcess"/>
    <dgm:cxn modelId="{9EEB7E9A-C021-4198-938D-AB5DD754A0D7}" type="presOf" srcId="{9F7D5BAF-010E-418B-9379-100B205C305F}" destId="{F14A79C9-6341-4AC9-8318-F9AFC5E14494}" srcOrd="0" destOrd="0" presId="urn:microsoft.com/office/officeart/2018/layout/CircleProcess"/>
    <dgm:cxn modelId="{2FDE24A8-D78C-4008-84F5-C3EE72AA9F19}" srcId="{37C29E10-8BFF-4271-AD45-61E5AD6040A5}" destId="{9F7D5BAF-010E-418B-9379-100B205C305F}" srcOrd="4" destOrd="0" parTransId="{B960570F-AC66-4367-B2FE-553FC14DE067}" sibTransId="{1B9C014C-0176-40A5-86BC-21C6C28FA93F}"/>
    <dgm:cxn modelId="{92E02CB4-B950-4E9F-B0AA-06AA74EE02AB}" srcId="{37C29E10-8BFF-4271-AD45-61E5AD6040A5}" destId="{CDA9E529-42C9-4A35-8B08-2475BA47216D}" srcOrd="1" destOrd="0" parTransId="{05EC2DC9-A440-4FA4-B6A1-7CEA92A56473}" sibTransId="{18C01370-EFAD-452A-B823-C26D8991349D}"/>
    <dgm:cxn modelId="{048D7BD7-422E-480A-B599-ECB5A85EA769}" type="presParOf" srcId="{704FCBEF-6BD2-4686-8110-F93D819B6390}" destId="{EC9B0D5E-FCAD-4B0C-9433-F88C03F0EA30}" srcOrd="0" destOrd="0" presId="urn:microsoft.com/office/officeart/2018/layout/CircleProcess"/>
    <dgm:cxn modelId="{9F8AE418-101E-456D-A6E6-4AF7369981F0}" type="presParOf" srcId="{EC9B0D5E-FCAD-4B0C-9433-F88C03F0EA30}" destId="{FCF16F31-7D05-4F94-A6D3-1F2AFC10B71F}" srcOrd="0" destOrd="0" presId="urn:microsoft.com/office/officeart/2018/layout/CircleProcess"/>
    <dgm:cxn modelId="{21C6BC92-509B-4015-BF71-03E81E6BE531}" type="presParOf" srcId="{704FCBEF-6BD2-4686-8110-F93D819B6390}" destId="{FC578A95-FBBB-4C3F-B9B7-C54C7BFD9E5C}" srcOrd="1" destOrd="0" presId="urn:microsoft.com/office/officeart/2018/layout/CircleProcess"/>
    <dgm:cxn modelId="{C212B767-A6DF-4FFB-9430-4C8083BEEED5}" type="presParOf" srcId="{FC578A95-FBBB-4C3F-B9B7-C54C7BFD9E5C}" destId="{F14A79C9-6341-4AC9-8318-F9AFC5E14494}" srcOrd="0" destOrd="0" presId="urn:microsoft.com/office/officeart/2018/layout/CircleProcess"/>
    <dgm:cxn modelId="{CBA55C98-8FEA-4547-AB39-0084799F4EC7}" type="presParOf" srcId="{704FCBEF-6BD2-4686-8110-F93D819B6390}" destId="{F0220D5B-1F50-4E53-B32F-CA4878E49253}" srcOrd="2" destOrd="0" presId="urn:microsoft.com/office/officeart/2018/layout/CircleProcess"/>
    <dgm:cxn modelId="{5F4E8DE6-B946-4AD9-950E-9D1AF1CCD6B0}" type="presParOf" srcId="{704FCBEF-6BD2-4686-8110-F93D819B6390}" destId="{B200F8A4-F512-43DE-A69D-884F531BC9FF}" srcOrd="3" destOrd="0" presId="urn:microsoft.com/office/officeart/2018/layout/CircleProcess"/>
    <dgm:cxn modelId="{4E9D2F66-6BE5-44DC-BA82-DE1501BF3CA9}" type="presParOf" srcId="{B200F8A4-F512-43DE-A69D-884F531BC9FF}" destId="{60464121-8266-4504-96EC-E8BE5DB4D35B}" srcOrd="0" destOrd="0" presId="urn:microsoft.com/office/officeart/2018/layout/CircleProcess"/>
    <dgm:cxn modelId="{DADE7630-7759-4CA3-9F58-73641A04BAB5}" type="presParOf" srcId="{704FCBEF-6BD2-4686-8110-F93D819B6390}" destId="{2DF7BF3A-274D-44AA-9B53-2CF55005C2CC}" srcOrd="4" destOrd="0" presId="urn:microsoft.com/office/officeart/2018/layout/CircleProcess"/>
    <dgm:cxn modelId="{6A037B31-287B-4528-A18E-908A9FE41256}" type="presParOf" srcId="{2DF7BF3A-274D-44AA-9B53-2CF55005C2CC}" destId="{4C8914E5-39EF-47A8-8FCC-D289C410213D}" srcOrd="0" destOrd="0" presId="urn:microsoft.com/office/officeart/2018/layout/CircleProcess"/>
    <dgm:cxn modelId="{43B7FB5A-D8EC-47D1-89D7-992374BD39CA}" type="presParOf" srcId="{704FCBEF-6BD2-4686-8110-F93D819B6390}" destId="{8E8831DA-E41E-4970-8663-1ACFB719424A}" srcOrd="5" destOrd="0" presId="urn:microsoft.com/office/officeart/2018/layout/CircleProcess"/>
    <dgm:cxn modelId="{559E2B48-6C93-448C-BA01-7D6A5541B372}" type="presParOf" srcId="{704FCBEF-6BD2-4686-8110-F93D819B6390}" destId="{48B48DBB-093A-4EAE-B07F-C9890AE3654A}" srcOrd="6" destOrd="0" presId="urn:microsoft.com/office/officeart/2018/layout/CircleProcess"/>
    <dgm:cxn modelId="{41F223E6-61DD-4235-B636-287BCC0775BE}" type="presParOf" srcId="{48B48DBB-093A-4EAE-B07F-C9890AE3654A}" destId="{0E2C050E-4C0D-4E77-B839-B37EC8F95AFC}" srcOrd="0" destOrd="0" presId="urn:microsoft.com/office/officeart/2018/layout/CircleProcess"/>
    <dgm:cxn modelId="{2D9ED52A-1486-42A2-83E9-1ECF5276E6BE}" type="presParOf" srcId="{704FCBEF-6BD2-4686-8110-F93D819B6390}" destId="{5176E27E-E873-4CB6-A849-F82D4A859558}" srcOrd="7" destOrd="0" presId="urn:microsoft.com/office/officeart/2018/layout/CircleProcess"/>
    <dgm:cxn modelId="{1B78CE7B-6306-4467-AA13-2822BA760ACA}" type="presParOf" srcId="{5176E27E-E873-4CB6-A849-F82D4A859558}" destId="{6081B248-AA7F-4B88-816D-EA9D15555D9F}" srcOrd="0" destOrd="0" presId="urn:microsoft.com/office/officeart/2018/layout/CircleProcess"/>
    <dgm:cxn modelId="{5B1A9645-B81B-4029-BD30-675646F5FB44}" type="presParOf" srcId="{704FCBEF-6BD2-4686-8110-F93D819B6390}" destId="{4362508C-7182-4DA4-9DA9-EE0AF8675D67}" srcOrd="8" destOrd="0" presId="urn:microsoft.com/office/officeart/2018/layout/CircleProcess"/>
    <dgm:cxn modelId="{2EEFBED6-4384-4FC0-9A28-75AC11EFD2B7}" type="presParOf" srcId="{704FCBEF-6BD2-4686-8110-F93D819B6390}" destId="{84D25C14-32FF-4C3F-99F9-410E18D92687}" srcOrd="9" destOrd="0" presId="urn:microsoft.com/office/officeart/2018/layout/CircleProcess"/>
    <dgm:cxn modelId="{74779B42-996C-4B03-8251-86DD5506DAF4}" type="presParOf" srcId="{84D25C14-32FF-4C3F-99F9-410E18D92687}" destId="{A6FF43D3-68E5-4125-A3A2-FB5DE5E2ED61}" srcOrd="0" destOrd="0" presId="urn:microsoft.com/office/officeart/2018/layout/CircleProcess"/>
    <dgm:cxn modelId="{3FE37785-D483-4E06-B2DC-E92D7E59FA63}" type="presParOf" srcId="{704FCBEF-6BD2-4686-8110-F93D819B6390}" destId="{CC9A85CB-3BDD-409C-AC63-C993E0B90819}" srcOrd="10" destOrd="0" presId="urn:microsoft.com/office/officeart/2018/layout/CircleProcess"/>
    <dgm:cxn modelId="{6D088760-213E-42F3-BBAA-585CC64A3F17}" type="presParOf" srcId="{CC9A85CB-3BDD-409C-AC63-C993E0B90819}" destId="{C0FD5DDD-2C89-4DFA-8893-36981366118F}" srcOrd="0" destOrd="0" presId="urn:microsoft.com/office/officeart/2018/layout/CircleProcess"/>
    <dgm:cxn modelId="{CC6A201E-8E31-47F8-8D40-4864D52CC3BD}" type="presParOf" srcId="{704FCBEF-6BD2-4686-8110-F93D819B6390}" destId="{0C859908-908F-46B9-A88A-98D2D938287A}" srcOrd="11" destOrd="0" presId="urn:microsoft.com/office/officeart/2018/layout/CircleProcess"/>
    <dgm:cxn modelId="{6D768520-A8D7-41FE-A0B1-DD93C544CBCC}" type="presParOf" srcId="{704FCBEF-6BD2-4686-8110-F93D819B6390}" destId="{9B450D4B-1A59-4A7F-B441-6F55318F9966}" srcOrd="12" destOrd="0" presId="urn:microsoft.com/office/officeart/2018/layout/CircleProcess"/>
    <dgm:cxn modelId="{42FD78D8-3633-4937-BC11-A6254F178E5B}" type="presParOf" srcId="{9B450D4B-1A59-4A7F-B441-6F55318F9966}" destId="{89963FC4-27A1-482C-B252-814385F18137}" srcOrd="0" destOrd="0" presId="urn:microsoft.com/office/officeart/2018/layout/CircleProcess"/>
    <dgm:cxn modelId="{4F818194-1060-49F9-9095-4720C74AB304}" type="presParOf" srcId="{704FCBEF-6BD2-4686-8110-F93D819B6390}" destId="{54CBA881-A940-4A4F-8A29-6C9A7C129A58}" srcOrd="13" destOrd="0" presId="urn:microsoft.com/office/officeart/2018/layout/CircleProcess"/>
    <dgm:cxn modelId="{1A05D8FA-9172-4A90-BD80-11B8C9392516}" type="presParOf" srcId="{54CBA881-A940-4A4F-8A29-6C9A7C129A58}" destId="{A1E88A26-5E24-458E-9683-D409802384BE}" srcOrd="0" destOrd="0" presId="urn:microsoft.com/office/officeart/2018/layout/CircleProcess"/>
    <dgm:cxn modelId="{B26613D1-A46F-4954-8294-0E1AE050E6BA}" type="presParOf" srcId="{704FCBEF-6BD2-4686-8110-F93D819B6390}" destId="{BD58A388-0EA1-47D8-B06A-8254E587471C}" srcOrd="14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16F31-7D05-4F94-A6D3-1F2AFC10B71F}">
      <dsp:nvSpPr>
        <dsp:cNvPr id="0" name=""/>
        <dsp:cNvSpPr/>
      </dsp:nvSpPr>
      <dsp:spPr>
        <a:xfrm>
          <a:off x="8839716" y="1199389"/>
          <a:ext cx="2015598" cy="20159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A79C9-6341-4AC9-8318-F9AFC5E14494}">
      <dsp:nvSpPr>
        <dsp:cNvPr id="0" name=""/>
        <dsp:cNvSpPr/>
      </dsp:nvSpPr>
      <dsp:spPr>
        <a:xfrm>
          <a:off x="8906223" y="1266598"/>
          <a:ext cx="1881511" cy="188150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👉 Designed for scalability, not strict timing guarantees</a:t>
          </a:r>
        </a:p>
      </dsp:txBody>
      <dsp:txXfrm>
        <a:off x="9175470" y="1535436"/>
        <a:ext cx="1344090" cy="1343834"/>
      </dsp:txXfrm>
    </dsp:sp>
    <dsp:sp modelId="{60464121-8266-4504-96EC-E8BE5DB4D35B}">
      <dsp:nvSpPr>
        <dsp:cNvPr id="0" name=""/>
        <dsp:cNvSpPr/>
      </dsp:nvSpPr>
      <dsp:spPr>
        <a:xfrm rot="2700000">
          <a:off x="6755581" y="1199494"/>
          <a:ext cx="2015365" cy="2015365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914E5-39EF-47A8-8FCC-D289C410213D}">
      <dsp:nvSpPr>
        <dsp:cNvPr id="0" name=""/>
        <dsp:cNvSpPr/>
      </dsp:nvSpPr>
      <dsp:spPr>
        <a:xfrm>
          <a:off x="6824117" y="1266598"/>
          <a:ext cx="1881511" cy="188150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Broadcast is </a:t>
          </a:r>
          <a:r>
            <a:rPr lang="en-US" sz="1200" b="1" kern="1200"/>
            <a:t>reliable but NOT time-bounded</a:t>
          </a:r>
          <a:r>
            <a:rPr lang="en-US" sz="1200" kern="1200"/>
            <a:t> </a:t>
          </a:r>
        </a:p>
      </dsp:txBody>
      <dsp:txXfrm>
        <a:off x="7092291" y="1535436"/>
        <a:ext cx="1344090" cy="1343834"/>
      </dsp:txXfrm>
    </dsp:sp>
    <dsp:sp modelId="{0E2C050E-4C0D-4E77-B839-B37EC8F95AFC}">
      <dsp:nvSpPr>
        <dsp:cNvPr id="0" name=""/>
        <dsp:cNvSpPr/>
      </dsp:nvSpPr>
      <dsp:spPr>
        <a:xfrm rot="2700000">
          <a:off x="4673475" y="1199494"/>
          <a:ext cx="2015365" cy="2015365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1B248-AA7F-4B88-816D-EA9D15555D9F}">
      <dsp:nvSpPr>
        <dsp:cNvPr id="0" name=""/>
        <dsp:cNvSpPr/>
      </dsp:nvSpPr>
      <dsp:spPr>
        <a:xfrm>
          <a:off x="4740938" y="1266598"/>
          <a:ext cx="1881511" cy="188150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replication + acknowledgments </a:t>
          </a:r>
        </a:p>
      </dsp:txBody>
      <dsp:txXfrm>
        <a:off x="5009113" y="1535436"/>
        <a:ext cx="1344090" cy="1343834"/>
      </dsp:txXfrm>
    </dsp:sp>
    <dsp:sp modelId="{A6FF43D3-68E5-4125-A3A2-FB5DE5E2ED61}">
      <dsp:nvSpPr>
        <dsp:cNvPr id="0" name=""/>
        <dsp:cNvSpPr/>
      </dsp:nvSpPr>
      <dsp:spPr>
        <a:xfrm rot="2700000">
          <a:off x="2590296" y="1199494"/>
          <a:ext cx="2015365" cy="2015365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D5DDD-2C89-4DFA-8893-36981366118F}">
      <dsp:nvSpPr>
        <dsp:cNvPr id="0" name=""/>
        <dsp:cNvSpPr/>
      </dsp:nvSpPr>
      <dsp:spPr>
        <a:xfrm>
          <a:off x="2657759" y="1266598"/>
          <a:ext cx="1881511" cy="188150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Apache Kafka operates in a </a:t>
          </a:r>
          <a:r>
            <a:rPr lang="en-US" sz="1200" b="1" kern="1200"/>
            <a:t>partially asynchronous system</a:t>
          </a:r>
          <a:r>
            <a:rPr lang="en-US" sz="1200" kern="1200"/>
            <a:t> </a:t>
          </a:r>
        </a:p>
      </dsp:txBody>
      <dsp:txXfrm>
        <a:off x="2927006" y="1535436"/>
        <a:ext cx="1344090" cy="1343834"/>
      </dsp:txXfrm>
    </dsp:sp>
    <dsp:sp modelId="{89963FC4-27A1-482C-B252-814385F18137}">
      <dsp:nvSpPr>
        <dsp:cNvPr id="0" name=""/>
        <dsp:cNvSpPr/>
      </dsp:nvSpPr>
      <dsp:spPr>
        <a:xfrm rot="2700000">
          <a:off x="507117" y="1199494"/>
          <a:ext cx="2015365" cy="2015365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88A26-5E24-458E-9683-D409802384BE}">
      <dsp:nvSpPr>
        <dsp:cNvPr id="0" name=""/>
        <dsp:cNvSpPr/>
      </dsp:nvSpPr>
      <dsp:spPr>
        <a:xfrm>
          <a:off x="574580" y="1266598"/>
          <a:ext cx="1881511" cy="188150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Kafka’s Model:</a:t>
          </a:r>
          <a:endParaRPr lang="en-US" sz="1200" kern="1200"/>
        </a:p>
      </dsp:txBody>
      <dsp:txXfrm>
        <a:off x="843828" y="1535436"/>
        <a:ext cx="1344090" cy="1343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6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7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1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8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7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3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2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6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26D8F-32B2-E4CC-0E9D-A147CB0A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5" b="571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69022-8A06-C0D7-4448-81BCEB14A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r>
              <a:rPr lang="en-US" sz="2200" dirty="0"/>
              <a:t>Distributed Systems Security</a:t>
            </a:r>
            <a:br>
              <a:rPr lang="en-US" sz="2200" dirty="0"/>
            </a:br>
            <a:r>
              <a:rPr lang="en-US" sz="2200" dirty="0"/>
              <a:t>Ordering, Broadcast, Synchronization &amp; Fault Tolerance</a:t>
            </a:r>
            <a:br>
              <a:rPr lang="en-US" sz="2200" dirty="0"/>
            </a:br>
            <a:r>
              <a:rPr lang="en-US" sz="2200" dirty="0"/>
              <a:t>Case Study: Apache Kafka</a:t>
            </a:r>
            <a:br>
              <a:rPr lang="en-US" sz="6000" dirty="0"/>
            </a:b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C4610-816E-FC6A-5D49-2C373C393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Yousef ahmed </a:t>
            </a:r>
            <a:r>
              <a:rPr lang="en-US" sz="2200" dirty="0" err="1"/>
              <a:t>salama</a:t>
            </a:r>
            <a:r>
              <a:rPr lang="en-US" sz="2200" dirty="0"/>
              <a:t> </a:t>
            </a:r>
          </a:p>
          <a:p>
            <a:pPr algn="l"/>
            <a:r>
              <a:rPr lang="en-US" sz="2200" dirty="0"/>
              <a:t>231004873</a:t>
            </a:r>
          </a:p>
        </p:txBody>
      </p:sp>
    </p:spTree>
    <p:extLst>
      <p:ext uri="{BB962C8B-B14F-4D97-AF65-F5344CB8AC3E}">
        <p14:creationId xmlns:p14="http://schemas.microsoft.com/office/powerpoint/2010/main" val="264681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F6A08-B1FF-6B30-73C1-6AC7B726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Distributed Systems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10EC-5CAD-D688-1A90-FA4F856F4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A distributed system is a collection of independent nodes that communicate over a network </a:t>
            </a:r>
          </a:p>
          <a:p>
            <a:pPr>
              <a:lnSpc>
                <a:spcPct val="110000"/>
              </a:lnSpc>
            </a:pPr>
            <a:r>
              <a:rPr lang="en-US" sz="1500"/>
              <a:t>Nodes coordinate to appear as a </a:t>
            </a:r>
            <a:r>
              <a:rPr lang="en-US" sz="1500" b="1"/>
              <a:t>single unified system</a:t>
            </a:r>
            <a:r>
              <a:rPr lang="en-US" sz="1500"/>
              <a:t> </a:t>
            </a:r>
          </a:p>
          <a:p>
            <a:pPr>
              <a:lnSpc>
                <a:spcPct val="110000"/>
              </a:lnSpc>
            </a:pPr>
            <a:r>
              <a:rPr lang="en-US" sz="1500" b="1"/>
              <a:t>Key Characteristics: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Concurrency (multiple nodes operate simultaneously) </a:t>
            </a:r>
          </a:p>
          <a:p>
            <a:pPr>
              <a:lnSpc>
                <a:spcPct val="110000"/>
              </a:lnSpc>
            </a:pPr>
            <a:r>
              <a:rPr lang="en-US" sz="1500"/>
              <a:t>No global clock </a:t>
            </a:r>
          </a:p>
          <a:p>
            <a:pPr>
              <a:lnSpc>
                <a:spcPct val="110000"/>
              </a:lnSpc>
            </a:pPr>
            <a:r>
              <a:rPr lang="en-US" sz="1500"/>
              <a:t>Independent failures possible </a:t>
            </a:r>
          </a:p>
          <a:p>
            <a:pPr>
              <a:lnSpc>
                <a:spcPct val="110000"/>
              </a:lnSpc>
            </a:pPr>
            <a:r>
              <a:rPr lang="en-US" sz="1500" b="1"/>
              <a:t>Main Challenges: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Maintaining consistency across nodes </a:t>
            </a:r>
          </a:p>
          <a:p>
            <a:pPr>
              <a:lnSpc>
                <a:spcPct val="110000"/>
              </a:lnSpc>
            </a:pPr>
            <a:r>
              <a:rPr lang="en-US" sz="1500"/>
              <a:t>Handling failures and delays </a:t>
            </a:r>
          </a:p>
          <a:p>
            <a:pPr>
              <a:lnSpc>
                <a:spcPct val="110000"/>
              </a:lnSpc>
            </a:pPr>
            <a:r>
              <a:rPr lang="en-US" sz="1500"/>
              <a:t>Ensuring secure communication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  <p:pic>
        <p:nvPicPr>
          <p:cNvPr id="5" name="Picture 4" descr="3D white lines connected with dots">
            <a:extLst>
              <a:ext uri="{FF2B5EF4-FFF2-40B4-BE49-F238E27FC236}">
                <a16:creationId xmlns:a16="http://schemas.microsoft.com/office/drawing/2014/main" id="{B78C34D8-8848-B120-CC50-A6E339DED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02" r="18398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9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EBBDF-2B2F-A9FB-9485-CD06CD1A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What is Apache Kafka?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7C86-B300-D493-E3DB-95BC603A5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A </a:t>
            </a:r>
            <a:r>
              <a:rPr lang="en-US" sz="1100" b="1"/>
              <a:t>distributed event streaming platform</a:t>
            </a:r>
            <a:r>
              <a:rPr lang="en-US" sz="1100"/>
              <a:t> </a:t>
            </a:r>
          </a:p>
          <a:p>
            <a:pPr>
              <a:lnSpc>
                <a:spcPct val="110000"/>
              </a:lnSpc>
            </a:pPr>
            <a:r>
              <a:rPr lang="en-US" sz="1100"/>
              <a:t>Designed for </a:t>
            </a:r>
            <a:r>
              <a:rPr lang="en-US" sz="1100" b="1"/>
              <a:t>high-throughput, real-time data processing</a:t>
            </a:r>
            <a:r>
              <a:rPr lang="en-US" sz="1100"/>
              <a:t>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Core Components: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/>
              <a:t>Producer</a:t>
            </a:r>
            <a:r>
              <a:rPr lang="en-US" sz="1100"/>
              <a:t> → sends messages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Broker</a:t>
            </a:r>
            <a:r>
              <a:rPr lang="en-US" sz="1100"/>
              <a:t> → stores and manages data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Consumer</a:t>
            </a:r>
            <a:r>
              <a:rPr lang="en-US" sz="1100"/>
              <a:t> → reads messages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Topic</a:t>
            </a:r>
            <a:r>
              <a:rPr lang="en-US" sz="1100"/>
              <a:t> → category of messages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Partition</a:t>
            </a:r>
            <a:r>
              <a:rPr lang="en-US" sz="1100"/>
              <a:t> → enables parallelism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Key Features: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Horizontal scalability </a:t>
            </a:r>
          </a:p>
          <a:p>
            <a:pPr>
              <a:lnSpc>
                <a:spcPct val="110000"/>
              </a:lnSpc>
            </a:pPr>
            <a:r>
              <a:rPr lang="en-US" sz="1100"/>
              <a:t>Fault tolerance via replication </a:t>
            </a:r>
          </a:p>
          <a:p>
            <a:pPr>
              <a:lnSpc>
                <a:spcPct val="110000"/>
              </a:lnSpc>
            </a:pPr>
            <a:r>
              <a:rPr lang="en-US" sz="1100"/>
              <a:t>Persistent storage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30D17-20F3-75C4-F903-E85762395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36" r="24567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7A441-108E-BB12-D920-A119B2C3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9DFCBA08-DE76-BDEC-439F-15EDC2AEE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DDC7F-AF51-D903-FC21-A970F2D3B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00"/>
              <a:t> ┌───────────────┐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│   PRODUCER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└───────┬───────┘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   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        ▼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┌────────────────────────────────┐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│         KAFKA CLUSTER     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│ ┌──────────┐  ┌──────────┐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│ │ Broker 1 │  │ Broker 2 │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│ │ Topic A  │  │ Topic A  │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│ │ Part 0   │  │ Part 1   │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│ └──────────┘  └──────────┘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└───────────────┬────────────────┘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   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┌───────────────┼───────────────┐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▼               ▼               ▼</a:t>
            </a:r>
          </a:p>
          <a:p>
            <a:pPr>
              <a:lnSpc>
                <a:spcPct val="110000"/>
              </a:lnSpc>
            </a:pPr>
            <a:r>
              <a:rPr lang="en-US" sz="900"/>
              <a:t>┌────────────┐  ┌────────────┐  ┌────────────┐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│ Consumer 1 │  │ Consumer 2 │  │ Consumer 3 │</a:t>
            </a:r>
          </a:p>
          <a:p>
            <a:pPr>
              <a:lnSpc>
                <a:spcPct val="110000"/>
              </a:lnSpc>
            </a:pPr>
            <a:r>
              <a:rPr lang="en-US" sz="900"/>
              <a:t>└────────────┘  └────────────┘  └────────────┘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4196876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E86C2-C177-F123-A359-5A975D1C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Message Ordering</a:t>
            </a: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E14000AC-4F46-5CC7-3305-505D39955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63" r="3403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35D2-C146-7953-17AB-7E8480A20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/>
              <a:t>Ordering defines how messages are delivered and processed across nodes </a:t>
            </a:r>
          </a:p>
          <a:p>
            <a:pPr>
              <a:lnSpc>
                <a:spcPct val="110000"/>
              </a:lnSpc>
            </a:pPr>
            <a:r>
              <a:rPr lang="en-US" sz="1300" b="1"/>
              <a:t>Types of Ordering: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FIFO → per sender order </a:t>
            </a:r>
          </a:p>
          <a:p>
            <a:pPr>
              <a:lnSpc>
                <a:spcPct val="110000"/>
              </a:lnSpc>
            </a:pPr>
            <a:r>
              <a:rPr lang="en-US" sz="1300"/>
              <a:t>Causal → preserves dependencies </a:t>
            </a:r>
          </a:p>
          <a:p>
            <a:pPr>
              <a:lnSpc>
                <a:spcPct val="110000"/>
              </a:lnSpc>
            </a:pPr>
            <a:r>
              <a:rPr lang="en-US" sz="1300"/>
              <a:t>Total → same order for all nodes </a:t>
            </a:r>
          </a:p>
          <a:p>
            <a:pPr>
              <a:lnSpc>
                <a:spcPct val="110000"/>
              </a:lnSpc>
            </a:pPr>
            <a:r>
              <a:rPr lang="en-US" sz="1300" b="1"/>
              <a:t>Kafka Implementation: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Guarantees </a:t>
            </a:r>
            <a:r>
              <a:rPr lang="en-US" sz="1300" b="1"/>
              <a:t>FIFO ordering within each partition</a:t>
            </a:r>
            <a:r>
              <a:rPr lang="en-US" sz="1300"/>
              <a:t> </a:t>
            </a:r>
          </a:p>
          <a:p>
            <a:pPr>
              <a:lnSpc>
                <a:spcPct val="110000"/>
              </a:lnSpc>
            </a:pPr>
            <a:r>
              <a:rPr lang="en-US" sz="1300"/>
              <a:t>No ordering across multiple partitions </a:t>
            </a:r>
          </a:p>
          <a:p>
            <a:pPr>
              <a:lnSpc>
                <a:spcPct val="110000"/>
              </a:lnSpc>
            </a:pPr>
            <a:r>
              <a:rPr lang="en-US" sz="1300"/>
              <a:t>👉 </a:t>
            </a:r>
            <a:r>
              <a:rPr lang="en-US" sz="1300" b="1"/>
              <a:t>Design Trade-off: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✔ High performance &amp; scalability </a:t>
            </a:r>
          </a:p>
          <a:p>
            <a:pPr>
              <a:lnSpc>
                <a:spcPct val="110000"/>
              </a:lnSpc>
            </a:pPr>
            <a:r>
              <a:rPr lang="en-US" sz="1300"/>
              <a:t>✘ No global consistency</a:t>
            </a:r>
          </a:p>
          <a:p>
            <a:pPr>
              <a:lnSpc>
                <a:spcPct val="110000"/>
              </a:lnSpc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151824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8FB7A-303F-490D-4D3E-1F333B3D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2B5675EB-7156-F6A4-99BF-04233ECA6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4EFEC-70C6-4549-2597-732A6DF0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 ┌──────────────────────────────┐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│        PARTITION 0           │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│  M1 → M2 → M3 → M4 → M5      │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│  ✔ Strict FIFO Ordering      │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└──────────────────────────────┘</a:t>
            </a:r>
          </a:p>
          <a:p>
            <a:pPr>
              <a:lnSpc>
                <a:spcPct val="110000"/>
              </a:lnSpc>
            </a:pPr>
            <a:endParaRPr lang="en-US" sz="1100"/>
          </a:p>
          <a:p>
            <a:pPr>
              <a:lnSpc>
                <a:spcPct val="110000"/>
              </a:lnSpc>
            </a:pP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        ┌──────────────────────────────┐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│        PARTITION 1           │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│  M1 → M3 → M2 → M5 → M4      │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│  ✘ No Global Ordering        │</a:t>
            </a:r>
          </a:p>
          <a:p>
            <a:pPr>
              <a:lnSpc>
                <a:spcPct val="110000"/>
              </a:lnSpc>
            </a:pPr>
            <a:r>
              <a:rPr lang="en-US" sz="1100"/>
              <a:t>        └──────────────────────────────┘</a:t>
            </a:r>
          </a:p>
          <a:p>
            <a:pPr>
              <a:lnSpc>
                <a:spcPct val="110000"/>
              </a:lnSpc>
            </a:pPr>
            <a:endParaRPr lang="en-US" sz="1100"/>
          </a:p>
          <a:p>
            <a:pPr>
              <a:lnSpc>
                <a:spcPct val="110000"/>
              </a:lnSpc>
            </a:pP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        RESULT:</a:t>
            </a:r>
          </a:p>
          <a:p>
            <a:pPr>
              <a:lnSpc>
                <a:spcPct val="110000"/>
              </a:lnSpc>
            </a:pPr>
            <a:r>
              <a:rPr lang="en-US" sz="1100"/>
              <a:t>   ✔ Order guaranteed INSIDE partition</a:t>
            </a:r>
          </a:p>
          <a:p>
            <a:pPr>
              <a:lnSpc>
                <a:spcPct val="110000"/>
              </a:lnSpc>
            </a:pPr>
            <a:r>
              <a:rPr lang="en-US" sz="1100"/>
              <a:t>   ✘ Order NOT guaranteed BETWEEN partitions</a:t>
            </a:r>
          </a:p>
        </p:txBody>
      </p:sp>
    </p:spTree>
    <p:extLst>
      <p:ext uri="{BB962C8B-B14F-4D97-AF65-F5344CB8AC3E}">
        <p14:creationId xmlns:p14="http://schemas.microsoft.com/office/powerpoint/2010/main" val="87444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558C7-2170-5018-20F5-76EFC1CD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Broadcast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389F-5E98-D80B-6B31-28E6E138A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Broadcast = sending messages from one node to many nodes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Types: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Best-effort → no guarantees </a:t>
            </a:r>
          </a:p>
          <a:p>
            <a:pPr>
              <a:lnSpc>
                <a:spcPct val="110000"/>
              </a:lnSpc>
            </a:pPr>
            <a:r>
              <a:rPr lang="en-US" sz="1100"/>
              <a:t>Reliable → ensures delivery </a:t>
            </a:r>
          </a:p>
          <a:p>
            <a:pPr>
              <a:lnSpc>
                <a:spcPct val="110000"/>
              </a:lnSpc>
            </a:pPr>
            <a:r>
              <a:rPr lang="en-US" sz="1100"/>
              <a:t>Atomic → delivery + total ordering </a:t>
            </a:r>
          </a:p>
          <a:p>
            <a:pPr>
              <a:lnSpc>
                <a:spcPct val="110000"/>
              </a:lnSpc>
            </a:pPr>
            <a:r>
              <a:rPr lang="en-US" sz="1100" b="1"/>
              <a:t>Kafka Model: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Uses </a:t>
            </a:r>
            <a:r>
              <a:rPr lang="en-US" sz="1100" b="1"/>
              <a:t>Publish–Subscribe architecture</a:t>
            </a:r>
            <a:r>
              <a:rPr lang="en-US" sz="1100"/>
              <a:t> </a:t>
            </a:r>
          </a:p>
          <a:p>
            <a:pPr>
              <a:lnSpc>
                <a:spcPct val="110000"/>
              </a:lnSpc>
            </a:pPr>
            <a:r>
              <a:rPr lang="en-US" sz="1100"/>
              <a:t>Producers → publish to topics </a:t>
            </a:r>
          </a:p>
          <a:p>
            <a:pPr>
              <a:lnSpc>
                <a:spcPct val="110000"/>
              </a:lnSpc>
            </a:pPr>
            <a:r>
              <a:rPr lang="en-US" sz="1100"/>
              <a:t>Consumers → subscribe </a:t>
            </a:r>
          </a:p>
          <a:p>
            <a:pPr>
              <a:lnSpc>
                <a:spcPct val="110000"/>
              </a:lnSpc>
            </a:pPr>
            <a:r>
              <a:rPr lang="en-US" sz="1100"/>
              <a:t>👉 Similar to </a:t>
            </a:r>
            <a:r>
              <a:rPr lang="en-US" sz="1100" b="1"/>
              <a:t>Reliable Broadcast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Messages are replicated across brokers </a:t>
            </a:r>
          </a:p>
          <a:p>
            <a:pPr>
              <a:lnSpc>
                <a:spcPct val="110000"/>
              </a:lnSpc>
            </a:pPr>
            <a:r>
              <a:rPr lang="en-US" sz="1100"/>
              <a:t>Ensures durability and availability 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  <p:pic>
        <p:nvPicPr>
          <p:cNvPr id="5" name="Picture 4" descr="A network formed by white dots">
            <a:extLst>
              <a:ext uri="{FF2B5EF4-FFF2-40B4-BE49-F238E27FC236}">
                <a16:creationId xmlns:a16="http://schemas.microsoft.com/office/drawing/2014/main" id="{393A9224-B083-F219-A37D-61FD59C38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00" r="1586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1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6AB0-6693-9D54-47A0-57E5BBB8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FD27BC98-5DAC-AED3-CA54-26705BCDB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45A0-F3D9-0B21-19AE-0A1EAD2D9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000"/>
              <a:t> ┌───────────────┐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│   PRODUCER    │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└───────┬───────┘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        │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        ▼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┌───────────────┐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│     TOPIC     │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│  (Kafka Bus)  │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            └───────┬───────┘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┌───────────────────┼───────────────────┐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▼                   ▼                   ▼</a:t>
            </a:r>
          </a:p>
          <a:p>
            <a:pPr>
              <a:lnSpc>
                <a:spcPct val="110000"/>
              </a:lnSpc>
            </a:pPr>
            <a:r>
              <a:rPr lang="en-US" sz="1000"/>
              <a:t>┌──────────────┐   ┌──────────────┐   ┌──────────────┐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1000"/>
              <a:t>│  CONSUMER A  │   │  CONSUMER B  │   │  CONSUMER C  │</a:t>
            </a:r>
          </a:p>
          <a:p>
            <a:pPr>
              <a:lnSpc>
                <a:spcPct val="110000"/>
              </a:lnSpc>
            </a:pPr>
            <a:r>
              <a:rPr lang="en-US" sz="1000"/>
              <a:t>└──────────────┘   └──────────────┘   └──────────────┘</a:t>
            </a:r>
          </a:p>
          <a:p>
            <a:pPr>
              <a:lnSpc>
                <a:spcPct val="110000"/>
              </a:lnSpc>
            </a:pP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        ✔ One-to-many communication</a:t>
            </a:r>
          </a:p>
          <a:p>
            <a:pPr>
              <a:lnSpc>
                <a:spcPct val="110000"/>
              </a:lnSpc>
            </a:pPr>
            <a:r>
              <a:rPr lang="en-US" sz="1000"/>
              <a:t>        ✔ Decoupled system (no direct links)</a:t>
            </a:r>
          </a:p>
        </p:txBody>
      </p:sp>
    </p:spTree>
    <p:extLst>
      <p:ext uri="{BB962C8B-B14F-4D97-AF65-F5344CB8AC3E}">
        <p14:creationId xmlns:p14="http://schemas.microsoft.com/office/powerpoint/2010/main" val="335319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1DAE3-E595-02F2-6027-7D0C186A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US"/>
              <a:t>Broadcast in Synchronous vs Asynchronous Systems</a:t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4D42-61AF-75F9-2370-A7037279C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42" y="548639"/>
            <a:ext cx="6189780" cy="5861304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Broadcast behavior depends on the system’s timing model.</a:t>
            </a:r>
          </a:p>
          <a:p>
            <a:pPr>
              <a:lnSpc>
                <a:spcPct val="110000"/>
              </a:lnSpc>
            </a:pPr>
            <a:br>
              <a:rPr lang="en-US" sz="1100"/>
            </a:b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/>
              <a:t>Synchronous Broadcast: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Message delivery time is bounded </a:t>
            </a:r>
          </a:p>
          <a:p>
            <a:pPr>
              <a:lnSpc>
                <a:spcPct val="110000"/>
              </a:lnSpc>
            </a:pPr>
            <a:r>
              <a:rPr lang="en-US" sz="1100"/>
              <a:t>All nodes receive messages within a known time </a:t>
            </a:r>
          </a:p>
          <a:p>
            <a:pPr>
              <a:lnSpc>
                <a:spcPct val="110000"/>
              </a:lnSpc>
            </a:pPr>
            <a:r>
              <a:rPr lang="en-US" sz="1100"/>
              <a:t>Failures are detected quickly </a:t>
            </a:r>
          </a:p>
          <a:p>
            <a:pPr>
              <a:lnSpc>
                <a:spcPct val="110000"/>
              </a:lnSpc>
            </a:pPr>
            <a:r>
              <a:rPr lang="en-US" sz="1100"/>
              <a:t>✔ Enables strong guarantees (Reliable / Atomic Broadcast)</a:t>
            </a:r>
            <a:br>
              <a:rPr lang="en-US" sz="1100"/>
            </a:br>
            <a:r>
              <a:rPr lang="en-US" sz="1100"/>
              <a:t>✔ Deterministic behavior</a:t>
            </a:r>
          </a:p>
          <a:p>
            <a:pPr>
              <a:lnSpc>
                <a:spcPct val="110000"/>
              </a:lnSpc>
            </a:pPr>
            <a:r>
              <a:rPr lang="en-US" sz="1100"/>
              <a:t>✘ Not realistic in large-scale systems</a:t>
            </a:r>
          </a:p>
          <a:p>
            <a:pPr>
              <a:lnSpc>
                <a:spcPct val="110000"/>
              </a:lnSpc>
            </a:pPr>
            <a:br>
              <a:rPr lang="en-US" sz="1100"/>
            </a:b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/>
              <a:t>Asynchronous Broadcast: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No guarantees on message delivery time </a:t>
            </a:r>
          </a:p>
          <a:p>
            <a:pPr>
              <a:lnSpc>
                <a:spcPct val="110000"/>
              </a:lnSpc>
            </a:pPr>
            <a:r>
              <a:rPr lang="en-US" sz="1100"/>
              <a:t>Messages may be delayed indefinitely </a:t>
            </a:r>
          </a:p>
          <a:p>
            <a:pPr>
              <a:lnSpc>
                <a:spcPct val="110000"/>
              </a:lnSpc>
            </a:pPr>
            <a:r>
              <a:rPr lang="en-US" sz="1100"/>
              <a:t>Hard to distinguish failure from delay </a:t>
            </a:r>
          </a:p>
          <a:p>
            <a:pPr>
              <a:lnSpc>
                <a:spcPct val="110000"/>
              </a:lnSpc>
            </a:pPr>
            <a:r>
              <a:rPr lang="en-US" sz="1100"/>
              <a:t>✔ Realistic and scalable</a:t>
            </a:r>
            <a:br>
              <a:rPr lang="en-US" sz="1100"/>
            </a:br>
            <a:r>
              <a:rPr lang="en-US" sz="1100"/>
              <a:t>✔ Flexible system design</a:t>
            </a:r>
          </a:p>
          <a:p>
            <a:pPr>
              <a:lnSpc>
                <a:spcPct val="110000"/>
              </a:lnSpc>
            </a:pPr>
            <a:r>
              <a:rPr lang="en-US" sz="1100"/>
              <a:t>✘ Harder to guarantee ordering and reliability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4606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BA366-0376-1C82-3CBB-18D88E81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2369A0-31F6-2CF3-EF60-656AD7951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451399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689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462F-47D0-6798-945D-C0062C11B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1B97-C331-B523-8F88-40BD3FC03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                                                                                         </a:t>
            </a:r>
          </a:p>
          <a:p>
            <a:r>
              <a:rPr lang="en-US" dirty="0"/>
              <a:t>  │</a:t>
            </a:r>
          </a:p>
          <a:p>
            <a:r>
              <a:rPr lang="en-US" dirty="0"/>
              <a:t>  ├──[ 1 sec ]──► Node A</a:t>
            </a:r>
          </a:p>
          <a:p>
            <a:r>
              <a:rPr lang="en-US" dirty="0"/>
              <a:t>  ├──[ 1 sec ]──► Node B                                               </a:t>
            </a:r>
          </a:p>
          <a:p>
            <a:r>
              <a:rPr lang="en-US" dirty="0"/>
              <a:t>  └──[ 1 sec ]──► Node C</a:t>
            </a:r>
          </a:p>
          <a:p>
            <a:endParaRPr lang="en-US" dirty="0"/>
          </a:p>
          <a:p>
            <a:r>
              <a:rPr lang="en-US" dirty="0"/>
              <a:t>✔ Fixed delay</a:t>
            </a:r>
          </a:p>
          <a:p>
            <a:r>
              <a:rPr lang="en-US" dirty="0"/>
              <a:t>✔ Predictable delivery</a:t>
            </a:r>
          </a:p>
          <a:p>
            <a:r>
              <a:rPr lang="en-US" dirty="0"/>
              <a:t>✔ Strong guarantees</a:t>
            </a:r>
          </a:p>
        </p:txBody>
      </p:sp>
    </p:spTree>
    <p:extLst>
      <p:ext uri="{BB962C8B-B14F-4D97-AF65-F5344CB8AC3E}">
        <p14:creationId xmlns:p14="http://schemas.microsoft.com/office/powerpoint/2010/main" val="997092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ACDE5-D8FD-914F-FDF6-66120F50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B8FF6-50CE-63AB-924F-3F86FADF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</a:t>
            </a:r>
          </a:p>
          <a:p>
            <a:r>
              <a:rPr lang="en-US" dirty="0"/>
              <a:t>  │</a:t>
            </a:r>
          </a:p>
          <a:p>
            <a:r>
              <a:rPr lang="en-US" dirty="0"/>
              <a:t>  ├──[ ? ]──► Node A</a:t>
            </a:r>
          </a:p>
          <a:p>
            <a:r>
              <a:rPr lang="en-US" dirty="0"/>
              <a:t>  ├──[ ? ]──► Node B</a:t>
            </a:r>
          </a:p>
          <a:p>
            <a:r>
              <a:rPr lang="en-US" dirty="0"/>
              <a:t>  └──[ ? ]──► Node C</a:t>
            </a:r>
          </a:p>
          <a:p>
            <a:endParaRPr lang="en-US" dirty="0"/>
          </a:p>
          <a:p>
            <a:r>
              <a:rPr lang="en-US" dirty="0"/>
              <a:t>✔ Unknown delay</a:t>
            </a:r>
          </a:p>
          <a:p>
            <a:r>
              <a:rPr lang="en-US" dirty="0"/>
              <a:t>✔ Messages may arrive anytime</a:t>
            </a:r>
          </a:p>
          <a:p>
            <a:r>
              <a:rPr lang="en-US" dirty="0"/>
              <a:t>✔ Real-world scalable systems</a:t>
            </a:r>
          </a:p>
        </p:txBody>
      </p:sp>
    </p:spTree>
    <p:extLst>
      <p:ext uri="{BB962C8B-B14F-4D97-AF65-F5344CB8AC3E}">
        <p14:creationId xmlns:p14="http://schemas.microsoft.com/office/powerpoint/2010/main" val="2173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8CE0-C651-4E7B-9CB7-F2C75369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Byzantine 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5CBD-5BAC-EE73-9E67-F4E815EEC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Handles nodes that behave </a:t>
            </a:r>
            <a:r>
              <a:rPr lang="en-US" b="1" dirty="0"/>
              <a:t>maliciously or incorrectly</a:t>
            </a:r>
            <a:r>
              <a:rPr lang="en-US" dirty="0"/>
              <a:t> </a:t>
            </a:r>
          </a:p>
          <a:p>
            <a:r>
              <a:rPr lang="en-US" dirty="0"/>
              <a:t>Based on:</a:t>
            </a:r>
            <a:br>
              <a:rPr lang="en-US" dirty="0"/>
            </a:br>
            <a:r>
              <a:rPr lang="en-US" dirty="0"/>
              <a:t>Byzantine Generals Problem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Nodes may send false or conflicting information </a:t>
            </a:r>
          </a:p>
          <a:p>
            <a:r>
              <a:rPr lang="en-US" b="1" dirty="0"/>
              <a:t>Solution Requirement:</a:t>
            </a:r>
            <a:endParaRPr lang="en-US" dirty="0"/>
          </a:p>
          <a:p>
            <a:r>
              <a:rPr lang="en-US" dirty="0"/>
              <a:t>Need </a:t>
            </a:r>
            <a:r>
              <a:rPr lang="en-US" b="1" dirty="0"/>
              <a:t>3f + 1 nodes</a:t>
            </a:r>
            <a:r>
              <a:rPr lang="en-US" dirty="0"/>
              <a:t> to tolerate </a:t>
            </a:r>
            <a:r>
              <a:rPr lang="en-US" i="1" dirty="0"/>
              <a:t>f</a:t>
            </a:r>
            <a:r>
              <a:rPr lang="en-US" dirty="0"/>
              <a:t> malicious nodes </a:t>
            </a:r>
          </a:p>
          <a:p>
            <a:r>
              <a:rPr lang="en-US" b="1" dirty="0"/>
              <a:t>Kafka:</a:t>
            </a:r>
            <a:endParaRPr lang="en-US" dirty="0"/>
          </a:p>
          <a:p>
            <a:r>
              <a:rPr lang="en-US" dirty="0"/>
              <a:t>✔ Handles crash failures </a:t>
            </a:r>
          </a:p>
          <a:p>
            <a:r>
              <a:rPr lang="en-US" dirty="0"/>
              <a:t>✘ Does NOT handle Byzantine (malicious) faults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6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D40E3-EF0C-E908-3926-376CF2F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20D45-D044-9C49-EC7B-A8B3D8D2E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Fault tolerance ensures the system continues operating despite failures.</a:t>
            </a:r>
          </a:p>
          <a:p>
            <a:r>
              <a:rPr lang="en-US" dirty="0"/>
              <a:t>Kafka achieves fault tolerance using replication:</a:t>
            </a:r>
          </a:p>
          <a:p>
            <a:r>
              <a:rPr lang="en-US" dirty="0"/>
              <a:t>Each partition is replicated across multiple brokers </a:t>
            </a:r>
          </a:p>
          <a:p>
            <a:r>
              <a:rPr lang="en-US" dirty="0"/>
              <a:t>One broker acts as the leader, others are followers </a:t>
            </a:r>
          </a:p>
          <a:p>
            <a:r>
              <a:rPr lang="en-US" dirty="0"/>
              <a:t>👉 Replication Factor (RF):</a:t>
            </a:r>
          </a:p>
          <a:p>
            <a:r>
              <a:rPr lang="en-US" dirty="0"/>
              <a:t>RF = number of copies of data </a:t>
            </a:r>
          </a:p>
          <a:p>
            <a:r>
              <a:rPr lang="en-US" dirty="0"/>
              <a:t>👉 Fault Tolerance Rule:</a:t>
            </a:r>
          </a:p>
          <a:p>
            <a:r>
              <a:rPr lang="en-US" dirty="0"/>
              <a:t>System can tolerate </a:t>
            </a:r>
            <a:r>
              <a:rPr lang="en-US" b="1" dirty="0"/>
              <a:t>f failures where: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 = RF - 1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RF = 3 → system tolerates 2 broker failures </a:t>
            </a:r>
          </a:p>
          <a:p>
            <a:r>
              <a:rPr lang="en-US" dirty="0"/>
              <a:t>👉 How it works:</a:t>
            </a:r>
          </a:p>
          <a:p>
            <a:r>
              <a:rPr lang="en-US" dirty="0"/>
              <a:t>If leader fails → a follower is elected as new leader </a:t>
            </a:r>
          </a:p>
          <a:p>
            <a:r>
              <a:rPr lang="en-US" dirty="0"/>
              <a:t>Data remains available due to replication </a:t>
            </a:r>
          </a:p>
          <a:p>
            <a:r>
              <a:rPr lang="en-US" dirty="0"/>
              <a:t>✔ Handles crash failures</a:t>
            </a:r>
            <a:br>
              <a:rPr lang="en-US" dirty="0"/>
            </a:br>
            <a:r>
              <a:rPr lang="en-US" dirty="0"/>
              <a:t>✘ Does NOT handle Byzantine (malicious) failures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352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AD207-03F3-BC38-28DF-8E5D1AB1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748E-9794-43F1-F15E-A78EECED4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00"/>
              <a:t> ┌───────────────────┐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│   LEADER BROKER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│   (Partition 0)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└─────────┬─────────┘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             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┌─────────────────┼─────────────────┐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        ▼                 ▼                 ▼</a:t>
            </a:r>
          </a:p>
          <a:p>
            <a:pPr>
              <a:lnSpc>
                <a:spcPct val="110000"/>
              </a:lnSpc>
            </a:pPr>
            <a:r>
              <a:rPr lang="en-US" sz="900"/>
              <a:t>┌──────────────┐  ┌──────────────┐  ┌──────────────┐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900"/>
              <a:t>│  FOLLOWER 1  │  │  FOLLOWER 2  │  │  FOLLOWER 3  │</a:t>
            </a:r>
          </a:p>
          <a:p>
            <a:pPr>
              <a:lnSpc>
                <a:spcPct val="110000"/>
              </a:lnSpc>
            </a:pPr>
            <a:r>
              <a:rPr lang="en-US" sz="900"/>
              <a:t>│  Replica     │  │  Replica     │  │  Replica     │</a:t>
            </a:r>
          </a:p>
          <a:p>
            <a:pPr>
              <a:lnSpc>
                <a:spcPct val="110000"/>
              </a:lnSpc>
            </a:pPr>
            <a:r>
              <a:rPr lang="en-US" sz="900"/>
              <a:t>└──────────────┘  └──────────────┘  └──────────────┘</a:t>
            </a:r>
          </a:p>
          <a:p>
            <a:pPr>
              <a:lnSpc>
                <a:spcPct val="110000"/>
              </a:lnSpc>
            </a:pPr>
            <a:endParaRPr lang="en-US" sz="900"/>
          </a:p>
          <a:p>
            <a:pPr>
              <a:lnSpc>
                <a:spcPct val="110000"/>
              </a:lnSpc>
            </a:pPr>
            <a:endParaRPr lang="en-US" sz="900"/>
          </a:p>
          <a:p>
            <a:pPr>
              <a:lnSpc>
                <a:spcPct val="110000"/>
              </a:lnSpc>
            </a:pPr>
            <a:r>
              <a:rPr lang="en-US" sz="900"/>
              <a:t>Replication Factor = 3</a:t>
            </a:r>
          </a:p>
          <a:p>
            <a:pPr>
              <a:lnSpc>
                <a:spcPct val="110000"/>
              </a:lnSpc>
            </a:pPr>
            <a:endParaRPr lang="en-US" sz="900"/>
          </a:p>
          <a:p>
            <a:pPr>
              <a:lnSpc>
                <a:spcPct val="110000"/>
              </a:lnSpc>
            </a:pPr>
            <a:r>
              <a:rPr lang="en-US" sz="900"/>
              <a:t>✔ Data copied across brokers</a:t>
            </a:r>
          </a:p>
          <a:p>
            <a:pPr>
              <a:lnSpc>
                <a:spcPct val="110000"/>
              </a:lnSpc>
            </a:pPr>
            <a:r>
              <a:rPr lang="en-US" sz="900"/>
              <a:t>✔ If leader fails → follower replaces it</a:t>
            </a:r>
          </a:p>
          <a:p>
            <a:pPr>
              <a:lnSpc>
                <a:spcPct val="110000"/>
              </a:lnSpc>
            </a:pPr>
            <a:r>
              <a:rPr lang="en-US" sz="900"/>
              <a:t>✔ No data loss (if replicas in sync)</a:t>
            </a:r>
          </a:p>
        </p:txBody>
      </p:sp>
    </p:spTree>
    <p:extLst>
      <p:ext uri="{BB962C8B-B14F-4D97-AF65-F5344CB8AC3E}">
        <p14:creationId xmlns:p14="http://schemas.microsoft.com/office/powerpoint/2010/main" val="2004464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A978B-B1E1-21D1-7C31-A8B84862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en-US" dirty="0"/>
              <a:t>Protocols in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5DBE-DD43-0591-97DF-1539D8F41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/>
              <a:t>Kafka uses a </a:t>
            </a:r>
            <a:r>
              <a:rPr lang="en-US" sz="1800" b="1"/>
              <a:t>leader–follower replication protocol</a:t>
            </a:r>
            <a:r>
              <a:rPr lang="en-US" sz="1800"/>
              <a:t> </a:t>
            </a:r>
          </a:p>
          <a:p>
            <a:pPr>
              <a:lnSpc>
                <a:spcPct val="110000"/>
              </a:lnSpc>
            </a:pPr>
            <a:r>
              <a:rPr lang="en-US" sz="1800" b="1"/>
              <a:t>Process: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/>
              <a:t>Producer sends message to leader broker </a:t>
            </a:r>
          </a:p>
          <a:p>
            <a:pPr>
              <a:lnSpc>
                <a:spcPct val="110000"/>
              </a:lnSpc>
            </a:pPr>
            <a:r>
              <a:rPr lang="en-US" sz="1800"/>
              <a:t>Leader writes to log </a:t>
            </a:r>
          </a:p>
          <a:p>
            <a:pPr>
              <a:lnSpc>
                <a:spcPct val="110000"/>
              </a:lnSpc>
            </a:pPr>
            <a:r>
              <a:rPr lang="en-US" sz="1800"/>
              <a:t>Followers replicate data </a:t>
            </a:r>
          </a:p>
          <a:p>
            <a:pPr>
              <a:lnSpc>
                <a:spcPct val="110000"/>
              </a:lnSpc>
            </a:pPr>
            <a:r>
              <a:rPr lang="en-US" sz="1800"/>
              <a:t>Acknowledgment is sent </a:t>
            </a:r>
          </a:p>
          <a:p>
            <a:pPr>
              <a:lnSpc>
                <a:spcPct val="110000"/>
              </a:lnSpc>
            </a:pPr>
            <a:r>
              <a:rPr lang="en-US" sz="1800" b="1"/>
              <a:t>Related Concepts: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/>
              <a:t>Raft </a:t>
            </a:r>
          </a:p>
          <a:p>
            <a:pPr>
              <a:lnSpc>
                <a:spcPct val="110000"/>
              </a:lnSpc>
            </a:pPr>
            <a:r>
              <a:rPr lang="en-US" sz="1800"/>
              <a:t>Paxos </a:t>
            </a:r>
          </a:p>
          <a:p>
            <a:pPr>
              <a:lnSpc>
                <a:spcPct val="110000"/>
              </a:lnSpc>
            </a:pPr>
            <a:r>
              <a:rPr lang="en-US" sz="1800"/>
              <a:t>👉 Ensures:</a:t>
            </a:r>
          </a:p>
          <a:p>
            <a:pPr>
              <a:lnSpc>
                <a:spcPct val="110000"/>
              </a:lnSpc>
            </a:pPr>
            <a:r>
              <a:rPr lang="en-US" sz="1800"/>
              <a:t>Data consistency </a:t>
            </a:r>
          </a:p>
          <a:p>
            <a:pPr>
              <a:lnSpc>
                <a:spcPct val="110000"/>
              </a:lnSpc>
            </a:pPr>
            <a:r>
              <a:rPr lang="en-US" sz="1800"/>
              <a:t>Fault tolerance</a:t>
            </a:r>
          </a:p>
          <a:p>
            <a:pPr>
              <a:lnSpc>
                <a:spcPct val="11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71446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9FEA6-5499-2CA3-62EF-10753686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System Scale &amp; Number of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7D680-A922-79BA-B205-5DB43D118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600"/>
              <a:t>In distributed systems, the number of servers depends on system scale, workload, and fault tolerance requirements.</a:t>
            </a:r>
          </a:p>
          <a:p>
            <a:pPr>
              <a:lnSpc>
                <a:spcPct val="110000"/>
              </a:lnSpc>
            </a:pPr>
            <a:r>
              <a:rPr lang="en-US" sz="600"/>
              <a:t>For Apache Kafka deployments:</a:t>
            </a:r>
          </a:p>
          <a:p>
            <a:pPr>
              <a:lnSpc>
                <a:spcPct val="110000"/>
              </a:lnSpc>
            </a:pPr>
            <a:r>
              <a:rPr lang="en-US" sz="600"/>
              <a:t>Small-scale systems:</a:t>
            </a:r>
          </a:p>
          <a:p>
            <a:pPr>
              <a:lnSpc>
                <a:spcPct val="110000"/>
              </a:lnSpc>
            </a:pPr>
            <a:r>
              <a:rPr lang="en-US" sz="600"/>
              <a:t>3–5 brokers </a:t>
            </a:r>
          </a:p>
          <a:p>
            <a:pPr>
              <a:lnSpc>
                <a:spcPct val="110000"/>
              </a:lnSpc>
            </a:pPr>
            <a:r>
              <a:rPr lang="en-US" sz="600"/>
              <a:t>Used for testing or small applications </a:t>
            </a:r>
          </a:p>
          <a:p>
            <a:pPr>
              <a:lnSpc>
                <a:spcPct val="110000"/>
              </a:lnSpc>
            </a:pPr>
            <a:r>
              <a:rPr lang="en-US" sz="600"/>
              <a:t>Medium-scale systems:</a:t>
            </a:r>
          </a:p>
          <a:p>
            <a:pPr>
              <a:lnSpc>
                <a:spcPct val="110000"/>
              </a:lnSpc>
            </a:pPr>
            <a:r>
              <a:rPr lang="en-US" sz="600"/>
              <a:t>10–50 brokers </a:t>
            </a:r>
          </a:p>
          <a:p>
            <a:pPr>
              <a:lnSpc>
                <a:spcPct val="110000"/>
              </a:lnSpc>
            </a:pPr>
            <a:r>
              <a:rPr lang="en-US" sz="600"/>
              <a:t>Handles moderate traffic and real-time processing </a:t>
            </a:r>
          </a:p>
          <a:p>
            <a:pPr>
              <a:lnSpc>
                <a:spcPct val="110000"/>
              </a:lnSpc>
            </a:pPr>
            <a:r>
              <a:rPr lang="en-US" sz="600"/>
              <a:t>Large-scale systems:</a:t>
            </a:r>
          </a:p>
          <a:p>
            <a:pPr>
              <a:lnSpc>
                <a:spcPct val="110000"/>
              </a:lnSpc>
            </a:pPr>
            <a:r>
              <a:rPr lang="en-US" sz="600"/>
              <a:t>100+ brokers </a:t>
            </a:r>
          </a:p>
          <a:p>
            <a:pPr>
              <a:lnSpc>
                <a:spcPct val="110000"/>
              </a:lnSpc>
            </a:pPr>
            <a:r>
              <a:rPr lang="en-US" sz="600"/>
              <a:t>Used by enterprises handling massive data streams </a:t>
            </a:r>
          </a:p>
          <a:p>
            <a:pPr>
              <a:lnSpc>
                <a:spcPct val="110000"/>
              </a:lnSpc>
            </a:pPr>
            <a:r>
              <a:rPr lang="en-US" sz="600"/>
              <a:t>👉 Key Factors Affecting Server Count:</a:t>
            </a:r>
          </a:p>
          <a:p>
            <a:pPr>
              <a:lnSpc>
                <a:spcPct val="110000"/>
              </a:lnSpc>
            </a:pPr>
            <a:r>
              <a:rPr lang="en-US" sz="600"/>
              <a:t>Data throughput (messages per second) </a:t>
            </a:r>
          </a:p>
          <a:p>
            <a:pPr>
              <a:lnSpc>
                <a:spcPct val="110000"/>
              </a:lnSpc>
            </a:pPr>
            <a:r>
              <a:rPr lang="en-US" sz="600"/>
              <a:t>Number of partitions </a:t>
            </a:r>
          </a:p>
          <a:p>
            <a:pPr>
              <a:lnSpc>
                <a:spcPct val="110000"/>
              </a:lnSpc>
            </a:pPr>
            <a:r>
              <a:rPr lang="en-US" sz="600"/>
              <a:t>Replication factor </a:t>
            </a:r>
          </a:p>
          <a:p>
            <a:pPr>
              <a:lnSpc>
                <a:spcPct val="110000"/>
              </a:lnSpc>
            </a:pPr>
            <a:r>
              <a:rPr lang="en-US" sz="600"/>
              <a:t>Fault tolerance requirements </a:t>
            </a:r>
          </a:p>
          <a:p>
            <a:pPr>
              <a:lnSpc>
                <a:spcPct val="110000"/>
              </a:lnSpc>
            </a:pPr>
            <a:r>
              <a:rPr lang="en-US" sz="600"/>
              <a:t>👉 Design Insight:</a:t>
            </a:r>
            <a:br>
              <a:rPr lang="en-US" sz="600"/>
            </a:br>
            <a:r>
              <a:rPr lang="en-US" sz="600"/>
              <a:t>Kafka scales horizontally by adding more brokers, allowing the system to handle increasing load efficiently</a:t>
            </a:r>
          </a:p>
          <a:p>
            <a:pPr>
              <a:lnSpc>
                <a:spcPct val="110000"/>
              </a:lnSpc>
            </a:pPr>
            <a:endParaRPr lang="en-US" sz="600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92DCE260-B042-9755-98C2-729B72FD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49" r="29780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0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E0D7D-D8A7-9AF3-0D33-AE4BD84C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Leader Election in Kafka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48E6EE18-6A7D-EAEB-70FA-29294CC9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09" r="24376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AB113-A0E4-FFA0-1E17-88C1E946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600"/>
              <a:t>Kafka uses a leader–follower model for managing partitions.</a:t>
            </a:r>
          </a:p>
          <a:p>
            <a:pPr>
              <a:lnSpc>
                <a:spcPct val="110000"/>
              </a:lnSpc>
            </a:pPr>
            <a:r>
              <a:rPr lang="en-US" sz="600"/>
              <a:t>👉 Leader Election Process:</a:t>
            </a:r>
          </a:p>
          <a:p>
            <a:pPr>
              <a:lnSpc>
                <a:spcPct val="110000"/>
              </a:lnSpc>
            </a:pPr>
            <a:r>
              <a:rPr lang="en-US" sz="600"/>
              <a:t>Each partition has one leader broker </a:t>
            </a:r>
          </a:p>
          <a:p>
            <a:pPr>
              <a:lnSpc>
                <a:spcPct val="110000"/>
              </a:lnSpc>
            </a:pPr>
            <a:r>
              <a:rPr lang="en-US" sz="600"/>
              <a:t>Producers and consumers communicate only with the leader </a:t>
            </a:r>
          </a:p>
          <a:p>
            <a:pPr>
              <a:lnSpc>
                <a:spcPct val="110000"/>
              </a:lnSpc>
            </a:pPr>
            <a:r>
              <a:rPr lang="en-US" sz="600"/>
              <a:t>If the leader fails:</a:t>
            </a:r>
          </a:p>
          <a:p>
            <a:pPr>
              <a:lnSpc>
                <a:spcPct val="110000"/>
              </a:lnSpc>
            </a:pPr>
            <a:r>
              <a:rPr lang="en-US" sz="600"/>
              <a:t>A new leader is selected from the followers </a:t>
            </a:r>
          </a:p>
          <a:p>
            <a:pPr>
              <a:lnSpc>
                <a:spcPct val="110000"/>
              </a:lnSpc>
            </a:pPr>
            <a:r>
              <a:rPr lang="en-US" sz="600"/>
              <a:t>👉 Coordination Mechanisms:</a:t>
            </a:r>
          </a:p>
          <a:p>
            <a:pPr>
              <a:lnSpc>
                <a:spcPct val="110000"/>
              </a:lnSpc>
            </a:pPr>
            <a:r>
              <a:rPr lang="en-US" sz="600"/>
              <a:t>Older Kafka:</a:t>
            </a:r>
          </a:p>
          <a:p>
            <a:pPr>
              <a:lnSpc>
                <a:spcPct val="110000"/>
              </a:lnSpc>
            </a:pPr>
            <a:r>
              <a:rPr lang="en-US" sz="600"/>
              <a:t>Uses ZooKeeper for leader election and cluster coordination </a:t>
            </a:r>
          </a:p>
          <a:p>
            <a:pPr>
              <a:lnSpc>
                <a:spcPct val="110000"/>
              </a:lnSpc>
            </a:pPr>
            <a:r>
              <a:rPr lang="en-US" sz="600"/>
              <a:t>Modern Kafka:</a:t>
            </a:r>
          </a:p>
          <a:p>
            <a:pPr>
              <a:lnSpc>
                <a:spcPct val="110000"/>
              </a:lnSpc>
            </a:pPr>
            <a:r>
              <a:rPr lang="en-US" sz="600"/>
              <a:t>Uses KRaft (Kafka Raft Metadata Mode) </a:t>
            </a:r>
          </a:p>
          <a:p>
            <a:pPr>
              <a:lnSpc>
                <a:spcPct val="110000"/>
              </a:lnSpc>
            </a:pPr>
            <a:r>
              <a:rPr lang="en-US" sz="600"/>
              <a:t>Removes dependency on ZooKeeper </a:t>
            </a:r>
          </a:p>
          <a:p>
            <a:pPr>
              <a:lnSpc>
                <a:spcPct val="110000"/>
              </a:lnSpc>
            </a:pPr>
            <a:r>
              <a:rPr lang="en-US" sz="600"/>
              <a:t>Based on Raft consensus algorithm </a:t>
            </a:r>
          </a:p>
          <a:p>
            <a:pPr>
              <a:lnSpc>
                <a:spcPct val="110000"/>
              </a:lnSpc>
            </a:pPr>
            <a:r>
              <a:rPr lang="en-US" sz="600"/>
              <a:t>👉 Key Benefits:</a:t>
            </a:r>
          </a:p>
          <a:p>
            <a:pPr>
              <a:lnSpc>
                <a:spcPct val="110000"/>
              </a:lnSpc>
            </a:pPr>
            <a:r>
              <a:rPr lang="en-US" sz="600"/>
              <a:t>Ensures availability </a:t>
            </a:r>
          </a:p>
          <a:p>
            <a:pPr>
              <a:lnSpc>
                <a:spcPct val="110000"/>
              </a:lnSpc>
            </a:pPr>
            <a:r>
              <a:rPr lang="en-US" sz="600"/>
              <a:t>Maintains consistency </a:t>
            </a:r>
          </a:p>
          <a:p>
            <a:pPr>
              <a:lnSpc>
                <a:spcPct val="110000"/>
              </a:lnSpc>
            </a:pPr>
            <a:r>
              <a:rPr lang="en-US" sz="600"/>
              <a:t>Enables automatic recovery from failures </a:t>
            </a:r>
          </a:p>
          <a:p>
            <a:pPr>
              <a:lnSpc>
                <a:spcPct val="110000"/>
              </a:lnSpc>
            </a:pP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725128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23E1E-457E-FD61-B063-2B39EFC9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429DCB95-9415-0A6F-EE9D-7E040D95F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942F5-F980-C63A-C4F0-2281BE812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500"/>
              <a:t> BEFORE FAILURE</a:t>
            </a:r>
          </a:p>
          <a:p>
            <a:pPr>
              <a:lnSpc>
                <a:spcPct val="110000"/>
              </a:lnSpc>
            </a:pPr>
            <a:endParaRPr lang="en-US" sz="500"/>
          </a:p>
          <a:p>
            <a:pPr>
              <a:lnSpc>
                <a:spcPct val="110000"/>
              </a:lnSpc>
            </a:pPr>
            <a:r>
              <a:rPr lang="en-US" sz="500"/>
              <a:t>     ┌───────────────┐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500"/>
              <a:t>     │    LEADER  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└──────┬────────┘</a:t>
            </a:r>
          </a:p>
          <a:p>
            <a:pPr>
              <a:lnSpc>
                <a:spcPct val="110000"/>
              </a:lnSpc>
            </a:pPr>
            <a:r>
              <a:rPr lang="en-US" sz="500"/>
              <a:t>         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┌──────▼──────┐</a:t>
            </a:r>
          </a:p>
          <a:p>
            <a:pPr>
              <a:lnSpc>
                <a:spcPct val="110000"/>
              </a:lnSpc>
            </a:pPr>
            <a:r>
              <a:rPr lang="en-US" sz="500"/>
              <a:t>     │  FOLLOWER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└──────┬──────┘</a:t>
            </a:r>
          </a:p>
          <a:p>
            <a:pPr>
              <a:lnSpc>
                <a:spcPct val="110000"/>
              </a:lnSpc>
            </a:pPr>
            <a:r>
              <a:rPr lang="en-US" sz="500"/>
              <a:t>         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┌──────▼──────┐</a:t>
            </a:r>
          </a:p>
          <a:p>
            <a:pPr>
              <a:lnSpc>
                <a:spcPct val="110000"/>
              </a:lnSpc>
            </a:pPr>
            <a:r>
              <a:rPr lang="en-US" sz="500"/>
              <a:t>     │  FOLLOWER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└─────────────┘</a:t>
            </a:r>
          </a:p>
          <a:p>
            <a:pPr>
              <a:lnSpc>
                <a:spcPct val="110000"/>
              </a:lnSpc>
            </a:pPr>
            <a:endParaRPr lang="en-US" sz="500"/>
          </a:p>
          <a:p>
            <a:pPr>
              <a:lnSpc>
                <a:spcPct val="110000"/>
              </a:lnSpc>
            </a:pPr>
            <a:endParaRPr lang="en-US" sz="500"/>
          </a:p>
          <a:p>
            <a:pPr>
              <a:lnSpc>
                <a:spcPct val="110000"/>
              </a:lnSpc>
            </a:pPr>
            <a:r>
              <a:rPr lang="en-US" sz="500"/>
              <a:t>        AFTER FAILURE</a:t>
            </a:r>
          </a:p>
          <a:p>
            <a:pPr>
              <a:lnSpc>
                <a:spcPct val="110000"/>
              </a:lnSpc>
            </a:pPr>
            <a:endParaRPr lang="en-US" sz="500"/>
          </a:p>
          <a:p>
            <a:pPr>
              <a:lnSpc>
                <a:spcPct val="110000"/>
              </a:lnSpc>
            </a:pPr>
            <a:r>
              <a:rPr lang="en-US" sz="500"/>
              <a:t>     ✘ Leader crashes</a:t>
            </a:r>
          </a:p>
          <a:p>
            <a:pPr>
              <a:lnSpc>
                <a:spcPct val="110000"/>
              </a:lnSpc>
            </a:pPr>
            <a:endParaRPr lang="en-US" sz="500"/>
          </a:p>
          <a:p>
            <a:pPr>
              <a:lnSpc>
                <a:spcPct val="110000"/>
              </a:lnSpc>
            </a:pPr>
            <a:r>
              <a:rPr lang="en-US" sz="500"/>
              <a:t>     ┌───────────────┐</a:t>
            </a:r>
          </a:p>
          <a:p>
            <a:pPr>
              <a:lnSpc>
                <a:spcPct val="110000"/>
              </a:lnSpc>
            </a:pPr>
            <a:r>
              <a:rPr lang="en-US" sz="500"/>
              <a:t>     │ NEW LEADER    │  ◄── elected</a:t>
            </a:r>
          </a:p>
          <a:p>
            <a:pPr>
              <a:lnSpc>
                <a:spcPct val="110000"/>
              </a:lnSpc>
            </a:pPr>
            <a:r>
              <a:rPr lang="en-US" sz="500"/>
              <a:t>     └──────┬────────┘</a:t>
            </a:r>
          </a:p>
          <a:p>
            <a:pPr>
              <a:lnSpc>
                <a:spcPct val="110000"/>
              </a:lnSpc>
            </a:pPr>
            <a:r>
              <a:rPr lang="en-US" sz="500"/>
              <a:t>         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┌──────▼──────┐</a:t>
            </a:r>
          </a:p>
          <a:p>
            <a:pPr>
              <a:lnSpc>
                <a:spcPct val="110000"/>
              </a:lnSpc>
            </a:pPr>
            <a:r>
              <a:rPr lang="en-US" sz="500"/>
              <a:t>     │  FOLLOWER   │</a:t>
            </a:r>
          </a:p>
          <a:p>
            <a:pPr>
              <a:lnSpc>
                <a:spcPct val="110000"/>
              </a:lnSpc>
            </a:pPr>
            <a:r>
              <a:rPr lang="en-US" sz="500"/>
              <a:t>     └─────────────┘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384430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98352F-64D9-4C46-1DBF-FAC892C49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676DA-8FD6-E3AF-7954-5CF39AE7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40534"/>
            <a:ext cx="3912637" cy="5483059"/>
          </a:xfrm>
        </p:spPr>
        <p:txBody>
          <a:bodyPr anchor="b">
            <a:normAutofit/>
          </a:bodyPr>
          <a:lstStyle/>
          <a:p>
            <a:r>
              <a:rPr lang="en-US" dirty="0"/>
              <a:t>Replicated State Machine (RSM) in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D0C8-E344-C4A0-8A14-C4493487E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0" y="740534"/>
            <a:ext cx="5865224" cy="54830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A Replicated State Machine (RSM) ensures all nodes maintain the same state by applying the same sequence of operations.</a:t>
            </a:r>
          </a:p>
          <a:p>
            <a:pPr>
              <a:lnSpc>
                <a:spcPct val="110000"/>
              </a:lnSpc>
            </a:pPr>
            <a:r>
              <a:rPr lang="en-US" sz="1100"/>
              <a:t>👉 In Kafka:</a:t>
            </a:r>
          </a:p>
          <a:p>
            <a:pPr>
              <a:lnSpc>
                <a:spcPct val="110000"/>
              </a:lnSpc>
            </a:pPr>
            <a:r>
              <a:rPr lang="en-US" sz="1100"/>
              <a:t>Each partition acts as a log (sequence of events) </a:t>
            </a:r>
          </a:p>
          <a:p>
            <a:pPr>
              <a:lnSpc>
                <a:spcPct val="110000"/>
              </a:lnSpc>
            </a:pPr>
            <a:r>
              <a:rPr lang="en-US" sz="1100"/>
              <a:t>Logs represent the system state </a:t>
            </a:r>
          </a:p>
          <a:p>
            <a:pPr>
              <a:lnSpc>
                <a:spcPct val="110000"/>
              </a:lnSpc>
            </a:pPr>
            <a:r>
              <a:rPr lang="en-US" sz="1100"/>
              <a:t>Messages are appended in order </a:t>
            </a:r>
          </a:p>
          <a:p>
            <a:pPr>
              <a:lnSpc>
                <a:spcPct val="110000"/>
              </a:lnSpc>
            </a:pPr>
            <a:r>
              <a:rPr lang="en-US" sz="1100"/>
              <a:t>👉 Replication Mechanism:</a:t>
            </a:r>
          </a:p>
          <a:p>
            <a:pPr>
              <a:lnSpc>
                <a:spcPct val="110000"/>
              </a:lnSpc>
            </a:pPr>
            <a:r>
              <a:rPr lang="en-US" sz="1100"/>
              <a:t>Leader writes data to log </a:t>
            </a:r>
          </a:p>
          <a:p>
            <a:pPr>
              <a:lnSpc>
                <a:spcPct val="110000"/>
              </a:lnSpc>
            </a:pPr>
            <a:r>
              <a:rPr lang="en-US" sz="1100"/>
              <a:t>Followers replicate the same log </a:t>
            </a:r>
          </a:p>
          <a:p>
            <a:pPr>
              <a:lnSpc>
                <a:spcPct val="110000"/>
              </a:lnSpc>
            </a:pPr>
            <a:r>
              <a:rPr lang="en-US" sz="1100"/>
              <a:t>All replicas stay consistent </a:t>
            </a:r>
          </a:p>
          <a:p>
            <a:pPr>
              <a:lnSpc>
                <a:spcPct val="110000"/>
              </a:lnSpc>
            </a:pPr>
            <a:r>
              <a:rPr lang="en-US" sz="1100"/>
              <a:t>👉 Why Kafka behaves like an RSM:</a:t>
            </a:r>
          </a:p>
          <a:p>
            <a:pPr>
              <a:lnSpc>
                <a:spcPct val="110000"/>
              </a:lnSpc>
            </a:pPr>
            <a:r>
              <a:rPr lang="en-US" sz="1100"/>
              <a:t>Same ordered log → same state across nodes </a:t>
            </a:r>
          </a:p>
          <a:p>
            <a:pPr>
              <a:lnSpc>
                <a:spcPct val="110000"/>
              </a:lnSpc>
            </a:pPr>
            <a:r>
              <a:rPr lang="en-US" sz="1100"/>
              <a:t>Ensures consistency and fault tolerance </a:t>
            </a:r>
          </a:p>
          <a:p>
            <a:pPr>
              <a:lnSpc>
                <a:spcPct val="110000"/>
              </a:lnSpc>
            </a:pPr>
            <a:r>
              <a:rPr lang="en-US" sz="1100"/>
              <a:t>👉 Benefits:</a:t>
            </a:r>
          </a:p>
          <a:p>
            <a:pPr>
              <a:lnSpc>
                <a:spcPct val="110000"/>
              </a:lnSpc>
            </a:pPr>
            <a:r>
              <a:rPr lang="en-US" sz="1100"/>
              <a:t>Strong data consistency </a:t>
            </a:r>
          </a:p>
          <a:p>
            <a:pPr>
              <a:lnSpc>
                <a:spcPct val="110000"/>
              </a:lnSpc>
            </a:pPr>
            <a:r>
              <a:rPr lang="en-US" sz="1100"/>
              <a:t>Fault recovery using replicated logs </a:t>
            </a:r>
          </a:p>
          <a:p>
            <a:pPr>
              <a:lnSpc>
                <a:spcPct val="110000"/>
              </a:lnSpc>
            </a:pPr>
            <a:r>
              <a:rPr lang="en-US" sz="1100"/>
              <a:t>Deterministic state across brokers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83996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5C97-86F7-0D6D-314C-14B98D0EB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18142-5F22-D24E-041B-994E345B5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LEADER LOG</a:t>
            </a:r>
          </a:p>
          <a:p>
            <a:r>
              <a:rPr lang="en-US" dirty="0"/>
              <a:t>   [ M1 → M2 → M3 → M4 → M5 ]</a:t>
            </a:r>
          </a:p>
          <a:p>
            <a:r>
              <a:rPr lang="en-US" dirty="0"/>
              <a:t>                │</a:t>
            </a:r>
          </a:p>
          <a:p>
            <a:r>
              <a:rPr lang="en-US" dirty="0"/>
              <a:t>                ▼</a:t>
            </a:r>
          </a:p>
          <a:p>
            <a:r>
              <a:rPr lang="en-US" dirty="0"/>
              <a:t>   ┌───────────────────────────┐</a:t>
            </a:r>
          </a:p>
          <a:p>
            <a:r>
              <a:rPr lang="en-US" dirty="0"/>
              <a:t>   │        FOLLOWERS          │</a:t>
            </a:r>
          </a:p>
          <a:p>
            <a:r>
              <a:rPr lang="en-US" dirty="0"/>
              <a:t>   │ [ M1 → M2 → M3 → M4 → M5 ]│</a:t>
            </a:r>
          </a:p>
          <a:p>
            <a:r>
              <a:rPr lang="en-US" dirty="0"/>
              <a:t>   └───────────────────────────┘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✔ Same log sequence</a:t>
            </a:r>
          </a:p>
          <a:p>
            <a:r>
              <a:rPr lang="en-US" dirty="0"/>
              <a:t>✔ Same system state</a:t>
            </a:r>
          </a:p>
          <a:p>
            <a:r>
              <a:rPr lang="en-US" dirty="0"/>
              <a:t>✔ Strong consistency across nodes</a:t>
            </a:r>
          </a:p>
        </p:txBody>
      </p:sp>
    </p:spTree>
    <p:extLst>
      <p:ext uri="{BB962C8B-B14F-4D97-AF65-F5344CB8AC3E}">
        <p14:creationId xmlns:p14="http://schemas.microsoft.com/office/powerpoint/2010/main" val="3952094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C2994-B2DC-CC44-D05F-402F3DC3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Advantages &amp; Disadvantages</a:t>
            </a:r>
          </a:p>
        </p:txBody>
      </p:sp>
      <p:pic>
        <p:nvPicPr>
          <p:cNvPr id="5" name="Picture 4" descr="Escalators">
            <a:extLst>
              <a:ext uri="{FF2B5EF4-FFF2-40B4-BE49-F238E27FC236}">
                <a16:creationId xmlns:a16="http://schemas.microsoft.com/office/drawing/2014/main" id="{9623493C-3A12-1512-2B2A-FE4E672CF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6" r="16393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CA4A-0046-3BB6-BD63-E8333F41C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/>
              <a:t>Advantages:</a:t>
            </a:r>
          </a:p>
          <a:p>
            <a:pPr>
              <a:lnSpc>
                <a:spcPct val="110000"/>
              </a:lnSpc>
            </a:pPr>
            <a:r>
              <a:rPr lang="en-US" sz="1500"/>
              <a:t>High throughput (handles large data streams) </a:t>
            </a:r>
          </a:p>
          <a:p>
            <a:pPr>
              <a:lnSpc>
                <a:spcPct val="110000"/>
              </a:lnSpc>
            </a:pPr>
            <a:r>
              <a:rPr lang="en-US" sz="1500"/>
              <a:t>Scalable (partition-based design) </a:t>
            </a:r>
          </a:p>
          <a:p>
            <a:pPr>
              <a:lnSpc>
                <a:spcPct val="110000"/>
              </a:lnSpc>
            </a:pPr>
            <a:r>
              <a:rPr lang="en-US" sz="1500"/>
              <a:t>Fault tolerant (replication mechanism) </a:t>
            </a:r>
          </a:p>
          <a:p>
            <a:pPr>
              <a:lnSpc>
                <a:spcPct val="110000"/>
              </a:lnSpc>
            </a:pPr>
            <a:r>
              <a:rPr lang="en-US" sz="1500"/>
              <a:t>Durable storage </a:t>
            </a:r>
          </a:p>
          <a:p>
            <a:pPr>
              <a:lnSpc>
                <a:spcPct val="110000"/>
              </a:lnSpc>
            </a:pPr>
            <a:r>
              <a:rPr lang="en-US" sz="1500" b="1"/>
              <a:t>Disadvantages:</a:t>
            </a:r>
          </a:p>
          <a:p>
            <a:pPr>
              <a:lnSpc>
                <a:spcPct val="110000"/>
              </a:lnSpc>
            </a:pPr>
            <a:r>
              <a:rPr lang="en-US" sz="1500"/>
              <a:t>No global message ordering </a:t>
            </a:r>
          </a:p>
          <a:p>
            <a:pPr>
              <a:lnSpc>
                <a:spcPct val="110000"/>
              </a:lnSpc>
            </a:pPr>
            <a:r>
              <a:rPr lang="en-US" sz="1500"/>
              <a:t>Not Byzantine fault tolerant </a:t>
            </a:r>
          </a:p>
          <a:p>
            <a:pPr>
              <a:lnSpc>
                <a:spcPct val="110000"/>
              </a:lnSpc>
            </a:pPr>
            <a:r>
              <a:rPr lang="en-US" sz="1500"/>
              <a:t>Requires careful configuration </a:t>
            </a:r>
          </a:p>
          <a:p>
            <a:pPr>
              <a:lnSpc>
                <a:spcPct val="110000"/>
              </a:lnSpc>
            </a:pPr>
            <a:r>
              <a:rPr lang="en-US" sz="1500"/>
              <a:t>Can be complex to manage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86519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98352F-64D9-4C46-1DBF-FAC892C49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CBAD6-1015-6C58-EA4F-CB39A56B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40534"/>
            <a:ext cx="3912637" cy="5483059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40A6-F6AE-AB41-EE83-5632B51A7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0" y="740534"/>
            <a:ext cx="5865224" cy="5483059"/>
          </a:xfrm>
        </p:spPr>
        <p:txBody>
          <a:bodyPr>
            <a:normAutofit/>
          </a:bodyPr>
          <a:lstStyle/>
          <a:p>
            <a:r>
              <a:rPr lang="en-US" sz="1800"/>
              <a:t>Distributed systems require: </a:t>
            </a:r>
          </a:p>
          <a:p>
            <a:pPr lvl="1"/>
            <a:r>
              <a:rPr lang="en-US"/>
              <a:t>Reliable </a:t>
            </a:r>
            <a:r>
              <a:rPr lang="en-US" dirty="0"/>
              <a:t>communication </a:t>
            </a:r>
          </a:p>
          <a:p>
            <a:pPr lvl="1"/>
            <a:r>
              <a:rPr lang="en-US" dirty="0"/>
              <a:t>Consistent ordering </a:t>
            </a:r>
          </a:p>
          <a:p>
            <a:pPr lvl="1"/>
            <a:r>
              <a:rPr lang="en-US" dirty="0"/>
              <a:t>Fault tolerance </a:t>
            </a:r>
          </a:p>
          <a:p>
            <a:r>
              <a:rPr lang="en-US" sz="1800"/>
              <a:t>Apache Kafka provides: </a:t>
            </a:r>
          </a:p>
          <a:p>
            <a:pPr lvl="1"/>
            <a:r>
              <a:rPr lang="en-US"/>
              <a:t>Efficient </a:t>
            </a:r>
            <a:r>
              <a:rPr lang="en-US" dirty="0"/>
              <a:t>data streaming </a:t>
            </a:r>
          </a:p>
          <a:p>
            <a:pPr lvl="1"/>
            <a:r>
              <a:rPr lang="en-US" dirty="0"/>
              <a:t>Strong scalability </a:t>
            </a:r>
          </a:p>
          <a:p>
            <a:r>
              <a:rPr lang="en-US" sz="1800"/>
              <a:t>👉 Trade-off:</a:t>
            </a:r>
          </a:p>
          <a:p>
            <a:r>
              <a:rPr lang="en-US" sz="1800"/>
              <a:t>Performance vs strong consistency &amp; security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2467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5215-356F-4068-52CE-15FE8C738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76C1C-6733-2FE6-B385-4321FA348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949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30</TotalTime>
  <Words>1463</Words>
  <Application>Microsoft Office PowerPoint</Application>
  <PresentationFormat>Widescreen</PresentationFormat>
  <Paragraphs>313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Neue Haas Grotesk Text Pro</vt:lpstr>
      <vt:lpstr>VanillaVTI</vt:lpstr>
      <vt:lpstr>Distributed Systems Security Ordering, Broadcast, Synchronization &amp; Fault Tolerance Case Study: Apache Kafka </vt:lpstr>
      <vt:lpstr>Distributed Systems Overview</vt:lpstr>
      <vt:lpstr>What is Apache Kafka?</vt:lpstr>
      <vt:lpstr>PowerPoint Presentation</vt:lpstr>
      <vt:lpstr>Message Ordering</vt:lpstr>
      <vt:lpstr>PowerPoint Presentation</vt:lpstr>
      <vt:lpstr>Broadcast Model</vt:lpstr>
      <vt:lpstr>PowerPoint Presentation</vt:lpstr>
      <vt:lpstr>Broadcast in Synchronous vs Asynchronous Systems </vt:lpstr>
      <vt:lpstr>PowerPoint Presentation</vt:lpstr>
      <vt:lpstr>PowerPoint Presentation</vt:lpstr>
      <vt:lpstr>PowerPoint Presentation</vt:lpstr>
      <vt:lpstr>Byzantine Fault Tolerance</vt:lpstr>
      <vt:lpstr>PowerPoint Presentation</vt:lpstr>
      <vt:lpstr>PowerPoint Presentation</vt:lpstr>
      <vt:lpstr>Protocols in Kafka</vt:lpstr>
      <vt:lpstr>System Scale &amp; Number of Servers</vt:lpstr>
      <vt:lpstr>Leader Election in Kafka</vt:lpstr>
      <vt:lpstr>PowerPoint Presentation</vt:lpstr>
      <vt:lpstr>Replicated State Machine (RSM) in Kafka</vt:lpstr>
      <vt:lpstr>PowerPoint Presentation</vt:lpstr>
      <vt:lpstr>Advantages &amp; Disadvantages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SALAMA</dc:creator>
  <cp:lastModifiedBy>Ahmed SALAMA</cp:lastModifiedBy>
  <cp:revision>3</cp:revision>
  <dcterms:created xsi:type="dcterms:W3CDTF">2026-04-29T15:52:26Z</dcterms:created>
  <dcterms:modified xsi:type="dcterms:W3CDTF">2026-05-03T14:59:15Z</dcterms:modified>
</cp:coreProperties>
</file>